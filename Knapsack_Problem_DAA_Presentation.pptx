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9961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(30–40 seconds): Introduce the Knapsack Problem as a classic optimization problem in DAA. Explain that we want to choose valuable items while staying within a fixed capacity. Fill in student, roll number, class, department, college and guide details before presenting.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with luggage: if a bag can carry only 7 kg, each item has a weight and a value. We need a combination with maximum total value while keeping total weight at or below 7 kg. The key challenge is that the individually most valuable items may not form the best combination.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model. p_i is the profit, w_i is the weight, W is the capacity, and x_i is a binary decision. The objective sums the profits of selected items. The constraint ensures their total weight does not exceed W. This binary restriction defines the 0/1 version.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Differentiate the three models. In 0/1, each item can be selected at most once and only in full. Fractional allows part of an item, making a greedy ratio strategy optimal. Unbounded allows repeated copies of an item. Always check which model the question asks for.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Dynamic programming solves the problem row by row. DP[i][c] means the maximum profit using the first i items and capacity c. If item i fits, compare skipping it with taking it. Taking it adds its profit and refers to the previous row at the remaining capacity, which prevents reusing the same item. If it does not fit, copy the previous row.</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DP table has a row for zero items and one row per item, and columns for capacities 0 through 7. Read the bottom-right cell for the answer: 70. The selected items are A and D, with weight 2+5=7 and profit 20+50=70. Note that B+D weighs 8 and is not feasible. Other feasible combinations such as B+C weigh 7 and give 70 as well; therefore A+D and B+C are both optimal. The slide should be understood as one optimal selection, not the only one.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pseudocode from top to bottom. Initialize the zero-item row to zero. For each item and capacity, first assume we skip the item, then check whether taking it improves the result. The previous row is used for the take case. The final table entry is the optimal profit.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fractional version allows partial items. Calculate profit divided by weight for each item, sort descending, and keep taking the best ratio. If only part of the next item fits, take exactly the fraction that fills the remaining capacity. This greedy method is optimal for fractional knapsack, unlike 0/1 knapsack.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Ratios are A=60/10=6, B=100/20=5, C=120/30=4, so the order is A, B, C. Take all of A and B, using 30 kg, leaving 20 kg. Take 20/30=2/3 of C, earning 120 times 2/3 = 80. Total profit is 60+100+80=240 at total weight 50. Sorting dominates the running time: O(n log 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n is the number of items and W is the integer capacity. DP fills up to n times W states, so it takes O(nW) time. A one-dimensional array reduces memory to O(W), but capacities must be processed in descending order to prevent reusing an item. O(nW) is pseudo-polynomial because it depends on the numeric value W, not only on the number of bits needed to encode W.</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main distinction is the decision rule. Dynamic programming explores the take/skip choices through stored subproblems and finds an optimal 0/1 answer. Greedy chooses the highest ratio first and is provably optimal when fractions are allowed. For 0/1 items, a high ratio choice can block a better combination, so greedy is not always optimal.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Knapsack is a model for many resource-allocation decisions. The 'weight' can mean kilograms, money, time, memory or energy; 'profit' can mean value, performance, return or benefit. Real-world versions may include extra constraints, uncertainty or dependencies, so the basic model is often a starting point.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the trade-offs. Dynamic programming is exact for the standard 0/1 problem but can be expensive when capacity is very large. Space optimization helps but does not remove the O(nW) time. Greedy is fast for fractional items, but the same ratio-based rule does not guarantee the best 0/1 solution.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Conclude by reinforcing the key lesson: identify whether items are indivisible or divisible before choosing an algorithm. Use DP for exact 0/1 Knapsack and greedy by profit-to-weight ratio for Fractional Knapsack. Invite questions. References: CLRS, Algorithm Design by Kleinberg and Tardos, and MIT OpenCourseWare algorithm materials.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40"/>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6583680" cy="320040"/>
          </a:xfrm>
          <a:prstGeom prst="rect">
            <a:avLst/>
          </a:prstGeom>
          <a:noFill/>
        </p:spPr>
        <p:txBody>
          <a:bodyPr wrap="square" lIns="54864" tIns="54864" rIns="54864" bIns="54864" anchor="t">
            <a:spAutoFit/>
          </a:bodyPr>
          <a:lstStyle/>
          <a:p>
            <a:pPr algn="l">
              <a:spcAft>
                <a:spcPts val="500"/>
              </a:spcAft>
              <a:defRPr sz="1200" b="1" i="0">
                <a:solidFill>
                  <a:srgbClr val="00B1A9"/>
                </a:solidFill>
                <a:latin typeface="Aptos"/>
              </a:defRPr>
            </a:pPr>
            <a:r>
              <a:t>DESIGN &amp; ANALYSIS OF ALGORITHMS</a:t>
            </a:r>
          </a:p>
        </p:txBody>
      </p:sp>
      <p:sp>
        <p:nvSpPr>
          <p:cNvPr id="4" name="TextBox 3"/>
          <p:cNvSpPr txBox="1"/>
          <p:nvPr/>
        </p:nvSpPr>
        <p:spPr>
          <a:xfrm>
            <a:off x="658368" y="1097280"/>
            <a:ext cx="6400800" cy="1645920"/>
          </a:xfrm>
          <a:prstGeom prst="rect">
            <a:avLst/>
          </a:prstGeom>
          <a:noFill/>
        </p:spPr>
        <p:txBody>
          <a:bodyPr wrap="square" lIns="54864" tIns="54864" rIns="54864" bIns="54864" anchor="t">
            <a:spAutoFit/>
          </a:bodyPr>
          <a:lstStyle/>
          <a:p>
            <a:pPr algn="l">
              <a:spcAft>
                <a:spcPts val="500"/>
              </a:spcAft>
              <a:defRPr sz="3800" b="1" i="0">
                <a:solidFill>
                  <a:srgbClr val="FFFFFF"/>
                </a:solidFill>
                <a:latin typeface="Aptos"/>
              </a:defRPr>
            </a:pPr>
            <a:r>
              <a:t>KNAPSACK</a:t>
            </a:r>
          </a:p>
          <a:p>
            <a:pPr algn="l">
              <a:spcAft>
                <a:spcPts val="500"/>
              </a:spcAft>
              <a:defRPr sz="3800" b="1" i="0">
                <a:solidFill>
                  <a:srgbClr val="FFFFFF"/>
                </a:solidFill>
                <a:latin typeface="Aptos"/>
              </a:defRPr>
            </a:pPr>
            <a:r>
              <a:t>PROBLEM</a:t>
            </a:r>
          </a:p>
        </p:txBody>
      </p:sp>
      <p:sp>
        <p:nvSpPr>
          <p:cNvPr id="5" name="TextBox 4"/>
          <p:cNvSpPr txBox="1"/>
          <p:nvPr/>
        </p:nvSpPr>
        <p:spPr>
          <a:xfrm>
            <a:off x="713232" y="2880360"/>
            <a:ext cx="6035040" cy="502920"/>
          </a:xfrm>
          <a:prstGeom prst="rect">
            <a:avLst/>
          </a:prstGeom>
          <a:noFill/>
        </p:spPr>
        <p:txBody>
          <a:bodyPr wrap="square" lIns="54864" tIns="54864" rIns="54864" bIns="54864" anchor="t">
            <a:spAutoFit/>
          </a:bodyPr>
          <a:lstStyle/>
          <a:p>
            <a:pPr algn="l">
              <a:spcAft>
                <a:spcPts val="500"/>
              </a:spcAft>
              <a:defRPr sz="1900" b="0" i="0">
                <a:solidFill>
                  <a:srgbClr val="CBDCEA"/>
                </a:solidFill>
                <a:latin typeface="Aptos"/>
              </a:defRPr>
            </a:pPr>
            <a:r>
              <a:t>Optimizing value under a weight constraint</a:t>
            </a:r>
          </a:p>
        </p:txBody>
      </p:sp>
      <p:sp>
        <p:nvSpPr>
          <p:cNvPr id="6" name="Rounded Rectangle 5"/>
          <p:cNvSpPr/>
          <p:nvPr/>
        </p:nvSpPr>
        <p:spPr>
          <a:xfrm>
            <a:off x="731520" y="3703320"/>
            <a:ext cx="5349240" cy="1965960"/>
          </a:xfrm>
          <a:prstGeom prst="roundRect">
            <a:avLst/>
          </a:prstGeom>
          <a:solidFill>
            <a:srgbClr val="163452"/>
          </a:solidFill>
          <a:ln>
            <a:solidFill>
              <a:srgbClr val="163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3886200"/>
            <a:ext cx="4937760" cy="1600200"/>
          </a:xfrm>
          <a:prstGeom prst="rect">
            <a:avLst/>
          </a:prstGeom>
          <a:noFill/>
        </p:spPr>
        <p:txBody>
          <a:bodyPr wrap="square" lIns="54864" tIns="54864" rIns="54864" bIns="54864" anchor="t">
            <a:spAutoFit/>
          </a:bodyPr>
          <a:lstStyle/>
          <a:p>
            <a:pPr algn="l">
              <a:spcAft>
                <a:spcPts val="500"/>
              </a:spcAft>
              <a:defRPr sz="1200" b="0" i="0">
                <a:solidFill>
                  <a:srgbClr val="FFFFFF"/>
                </a:solidFill>
                <a:latin typeface="Aptos"/>
              </a:defRPr>
            </a:pPr>
            <a:r>
              <a:rPr dirty="0"/>
              <a:t>Subject: Design and Analysis of Algorithms (DAA)</a:t>
            </a:r>
          </a:p>
          <a:p>
            <a:pPr algn="l">
              <a:spcAft>
                <a:spcPts val="500"/>
              </a:spcAft>
              <a:defRPr sz="1200" b="0" i="0">
                <a:solidFill>
                  <a:srgbClr val="FFFFFF"/>
                </a:solidFill>
                <a:latin typeface="Aptos"/>
              </a:defRPr>
            </a:pPr>
            <a:r>
              <a:rPr dirty="0"/>
              <a:t>Student name(s): </a:t>
            </a:r>
            <a:r>
              <a:rPr lang="en-US" dirty="0" err="1"/>
              <a:t>Aekansh</a:t>
            </a:r>
            <a:r>
              <a:rPr lang="en-US" dirty="0"/>
              <a:t> </a:t>
            </a:r>
            <a:r>
              <a:rPr lang="en-US" dirty="0" err="1"/>
              <a:t>Upwanshi</a:t>
            </a:r>
            <a:endParaRPr dirty="0"/>
          </a:p>
          <a:p>
            <a:pPr algn="l">
              <a:spcAft>
                <a:spcPts val="500"/>
              </a:spcAft>
              <a:defRPr sz="1200" b="0" i="0">
                <a:solidFill>
                  <a:srgbClr val="FFFFFF"/>
                </a:solidFill>
                <a:latin typeface="Aptos"/>
              </a:defRPr>
            </a:pPr>
            <a:r>
              <a:rPr dirty="0"/>
              <a:t>Roll number(s): </a:t>
            </a:r>
            <a:r>
              <a:rPr lang="en-US" dirty="0"/>
              <a:t>25070521050</a:t>
            </a:r>
            <a:endParaRPr dirty="0"/>
          </a:p>
          <a:p>
            <a:pPr algn="l">
              <a:spcAft>
                <a:spcPts val="500"/>
              </a:spcAft>
              <a:defRPr sz="1200" b="0" i="0">
                <a:solidFill>
                  <a:srgbClr val="FFFFFF"/>
                </a:solidFill>
                <a:latin typeface="Aptos"/>
              </a:defRPr>
            </a:pPr>
            <a:r>
              <a:rPr dirty="0"/>
              <a:t>Class / Semester: </a:t>
            </a:r>
            <a:r>
              <a:rPr lang="en-US" dirty="0"/>
              <a:t>Section A (semester 3)</a:t>
            </a:r>
            <a:endParaRPr dirty="0"/>
          </a:p>
          <a:p>
            <a:pPr algn="l">
              <a:spcAft>
                <a:spcPts val="500"/>
              </a:spcAft>
              <a:defRPr sz="1200" b="0" i="0">
                <a:solidFill>
                  <a:srgbClr val="FFFFFF"/>
                </a:solidFill>
                <a:latin typeface="Aptos"/>
              </a:defRPr>
            </a:pPr>
            <a:r>
              <a:rPr dirty="0"/>
              <a:t>Department &amp; College: </a:t>
            </a:r>
            <a:r>
              <a:rPr lang="en-US" dirty="0" err="1"/>
              <a:t>B.Tech</a:t>
            </a:r>
            <a:r>
              <a:rPr lang="en-US" dirty="0"/>
              <a:t> (Symbiosis Institute of Technology)</a:t>
            </a:r>
            <a:endParaRPr dirty="0"/>
          </a:p>
          <a:p>
            <a:pPr algn="l">
              <a:spcAft>
                <a:spcPts val="500"/>
              </a:spcAft>
              <a:defRPr sz="1200" b="0" i="0">
                <a:solidFill>
                  <a:srgbClr val="FFFFFF"/>
                </a:solidFill>
                <a:latin typeface="Aptos"/>
              </a:defRPr>
            </a:pPr>
            <a:r>
              <a:rPr dirty="0"/>
              <a:t>Faculty Guide: </a:t>
            </a:r>
            <a:r>
              <a:rPr lang="en-US" dirty="0" err="1"/>
              <a:t>Dr.Parul</a:t>
            </a:r>
            <a:r>
              <a:rPr lang="en-US" dirty="0"/>
              <a:t> Dubey</a:t>
            </a:r>
            <a:endParaRPr dirty="0"/>
          </a:p>
        </p:txBody>
      </p:sp>
      <p:sp>
        <p:nvSpPr>
          <p:cNvPr id="8" name="Arc 7"/>
          <p:cNvSpPr/>
          <p:nvPr/>
        </p:nvSpPr>
        <p:spPr>
          <a:xfrm>
            <a:off x="8035167" y="173736"/>
            <a:ext cx="2057400" cy="2286000"/>
          </a:xfrm>
          <a:prstGeom prst="arc">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875147" y="1321308"/>
            <a:ext cx="2423160" cy="3246120"/>
          </a:xfrm>
          <a:prstGeom prst="roundRect">
            <a:avLst/>
          </a:prstGeom>
          <a:solidFill>
            <a:srgbClr val="167781"/>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321040" y="2103120"/>
            <a:ext cx="1600200" cy="1234440"/>
          </a:xfrm>
          <a:prstGeom prst="roundRect">
            <a:avLst/>
          </a:prstGeom>
          <a:solidFill>
            <a:srgbClr val="0F2340"/>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458200" y="2743200"/>
            <a:ext cx="1325880" cy="548640"/>
          </a:xfrm>
          <a:prstGeom prst="round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03920" y="2852928"/>
            <a:ext cx="1234440" cy="219456"/>
          </a:xfrm>
          <a:prstGeom prst="rect">
            <a:avLst/>
          </a:prstGeom>
          <a:noFill/>
        </p:spPr>
        <p:txBody>
          <a:bodyPr wrap="square" lIns="54864" tIns="54864" rIns="54864" bIns="54864" anchor="t">
            <a:spAutoFit/>
          </a:bodyPr>
          <a:lstStyle/>
          <a:p>
            <a:pPr algn="ctr">
              <a:spcAft>
                <a:spcPts val="500"/>
              </a:spcAft>
              <a:defRPr sz="1000" b="1" i="0">
                <a:solidFill>
                  <a:srgbClr val="FFFFFF"/>
                </a:solidFill>
                <a:latin typeface="Aptos"/>
              </a:defRPr>
            </a:pPr>
            <a:r>
              <a:t>CAPACITY</a:t>
            </a:r>
          </a:p>
        </p:txBody>
      </p:sp>
      <p:sp>
        <p:nvSpPr>
          <p:cNvPr id="13" name="Rounded Rectangle 12"/>
          <p:cNvSpPr/>
          <p:nvPr/>
        </p:nvSpPr>
        <p:spPr>
          <a:xfrm>
            <a:off x="7333635" y="4689446"/>
            <a:ext cx="960120" cy="713232"/>
          </a:xfrm>
          <a:prstGeom prst="roundRect">
            <a:avLst/>
          </a:prstGeom>
          <a:solidFill>
            <a:srgbClr val="FFBE4B"/>
          </a:solidFill>
          <a:ln>
            <a:solidFill>
              <a:srgbClr val="FFBE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0" y="4956048"/>
            <a:ext cx="960120" cy="256032"/>
          </a:xfrm>
          <a:prstGeom prst="rect">
            <a:avLst/>
          </a:prstGeom>
          <a:noFill/>
        </p:spPr>
        <p:txBody>
          <a:bodyPr wrap="square" lIns="54864" tIns="54864" rIns="54864" bIns="54864" anchor="t">
            <a:spAutoFit/>
          </a:bodyPr>
          <a:lstStyle/>
          <a:p>
            <a:pPr algn="ctr">
              <a:spcAft>
                <a:spcPts val="500"/>
              </a:spcAft>
              <a:defRPr sz="1700" b="1" i="0">
                <a:solidFill>
                  <a:srgbClr val="0F2340"/>
                </a:solidFill>
                <a:latin typeface="Aptos"/>
              </a:defRPr>
            </a:pPr>
            <a:r>
              <a:t>20</a:t>
            </a:r>
          </a:p>
        </p:txBody>
      </p:sp>
      <p:sp>
        <p:nvSpPr>
          <p:cNvPr id="15" name="Rounded Rectangle 14"/>
          <p:cNvSpPr/>
          <p:nvPr/>
        </p:nvSpPr>
        <p:spPr>
          <a:xfrm>
            <a:off x="8764524" y="4847844"/>
            <a:ext cx="960120" cy="713232"/>
          </a:xfrm>
          <a:prstGeom prst="round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732520" y="5230368"/>
            <a:ext cx="960120" cy="256032"/>
          </a:xfrm>
          <a:prstGeom prst="rect">
            <a:avLst/>
          </a:prstGeom>
          <a:noFill/>
        </p:spPr>
        <p:txBody>
          <a:bodyPr wrap="square" lIns="54864" tIns="54864" rIns="54864" bIns="54864" anchor="t">
            <a:spAutoFit/>
          </a:bodyPr>
          <a:lstStyle/>
          <a:p>
            <a:pPr algn="ctr">
              <a:spcAft>
                <a:spcPts val="500"/>
              </a:spcAft>
              <a:defRPr sz="1700" b="1" i="0">
                <a:solidFill>
                  <a:srgbClr val="0F2340"/>
                </a:solidFill>
                <a:latin typeface="Aptos"/>
              </a:defRPr>
            </a:pPr>
            <a:r>
              <a:t>30</a:t>
            </a:r>
          </a:p>
        </p:txBody>
      </p:sp>
      <p:sp>
        <p:nvSpPr>
          <p:cNvPr id="17" name="Rounded Rectangle 16"/>
          <p:cNvSpPr/>
          <p:nvPr/>
        </p:nvSpPr>
        <p:spPr>
          <a:xfrm>
            <a:off x="10058400" y="4572000"/>
            <a:ext cx="960120" cy="713232"/>
          </a:xfrm>
          <a:prstGeom prst="roundRect">
            <a:avLst/>
          </a:prstGeom>
          <a:solidFill>
            <a:srgbClr val="E2574C"/>
          </a:solidFill>
          <a:ln>
            <a:solidFill>
              <a:srgbClr val="E25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0" y="4773168"/>
            <a:ext cx="960120" cy="256032"/>
          </a:xfrm>
          <a:prstGeom prst="rect">
            <a:avLst/>
          </a:prstGeom>
          <a:noFill/>
        </p:spPr>
        <p:txBody>
          <a:bodyPr wrap="square" lIns="54864" tIns="54864" rIns="54864" bIns="54864" anchor="t">
            <a:spAutoFit/>
          </a:bodyPr>
          <a:lstStyle/>
          <a:p>
            <a:pPr algn="ctr">
              <a:spcAft>
                <a:spcPts val="500"/>
              </a:spcAft>
              <a:defRPr sz="1700" b="1" i="0">
                <a:solidFill>
                  <a:srgbClr val="0F2340"/>
                </a:solidFill>
                <a:latin typeface="Aptos"/>
              </a:defRPr>
            </a:pPr>
            <a:r>
              <a:t>40</a:t>
            </a:r>
          </a:p>
        </p:txBody>
      </p:sp>
      <p:sp>
        <p:nvSpPr>
          <p:cNvPr id="19" name="TextBox 18"/>
          <p:cNvSpPr txBox="1"/>
          <p:nvPr/>
        </p:nvSpPr>
        <p:spPr>
          <a:xfrm>
            <a:off x="7059168" y="5623560"/>
            <a:ext cx="4370832" cy="295466"/>
          </a:xfrm>
          <a:prstGeom prst="rect">
            <a:avLst/>
          </a:prstGeom>
          <a:noFill/>
        </p:spPr>
        <p:txBody>
          <a:bodyPr wrap="square" lIns="54864" tIns="54864" rIns="54864" bIns="54864" anchor="t">
            <a:spAutoFit/>
          </a:bodyPr>
          <a:lstStyle/>
          <a:p>
            <a:pPr algn="ctr">
              <a:spcAft>
                <a:spcPts val="500"/>
              </a:spcAft>
              <a:defRPr sz="1200" b="1" i="0">
                <a:solidFill>
                  <a:srgbClr val="FFFFFF"/>
                </a:solidFill>
                <a:latin typeface="Aptos"/>
              </a:defRPr>
            </a:pPr>
            <a:r>
              <a:rPr dirty="0"/>
              <a:t>WEIGHT  •  PROFIT  •  CAPACITY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502920"/>
          </a:xfrm>
          <a:prstGeom prst="rect">
            <a:avLst/>
          </a:prstGeom>
          <a:noFill/>
        </p:spPr>
        <p:txBody>
          <a:bodyPr wrap="square" lIns="54864" tIns="54864" rIns="54864" bIns="54864" anchor="t">
            <a:spAutoFit/>
          </a:bodyPr>
          <a:lstStyle/>
          <a:p>
            <a:pPr algn="l">
              <a:spcAft>
                <a:spcPts val="500"/>
              </a:spcAft>
              <a:defRPr sz="2700" b="1" i="0">
                <a:solidFill>
                  <a:srgbClr val="0F2340"/>
                </a:solidFill>
                <a:latin typeface="Aptos"/>
              </a:defRPr>
            </a:pPr>
            <a:r>
              <a:t>1. Introduction</a:t>
            </a:r>
          </a:p>
        </p:txBody>
      </p:sp>
      <p:sp>
        <p:nvSpPr>
          <p:cNvPr id="3" name="Rectangle 2"/>
          <p:cNvSpPr/>
          <p:nvPr/>
        </p:nvSpPr>
        <p:spPr>
          <a:xfrm>
            <a:off x="530352" y="896112"/>
            <a:ext cx="914400" cy="50292"/>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509760" y="347472"/>
            <a:ext cx="2057400" cy="256032"/>
          </a:xfrm>
          <a:prstGeom prst="rect">
            <a:avLst/>
          </a:prstGeom>
          <a:noFill/>
        </p:spPr>
        <p:txBody>
          <a:bodyPr wrap="square" lIns="54864" tIns="54864" rIns="54864" bIns="54864" anchor="t">
            <a:spAutoFit/>
          </a:bodyPr>
          <a:lstStyle/>
          <a:p>
            <a:pPr algn="r">
              <a:spcAft>
                <a:spcPts val="500"/>
              </a:spcAft>
              <a:defRPr sz="900" b="1" i="0">
                <a:solidFill>
                  <a:srgbClr val="00B1A9"/>
                </a:solidFill>
                <a:latin typeface="Aptos"/>
              </a:defRPr>
            </a:pPr>
            <a:r>
              <a:t>FOUNDATIONS</a:t>
            </a:r>
          </a:p>
        </p:txBody>
      </p:sp>
      <p:sp>
        <p:nvSpPr>
          <p:cNvPr id="5" name="TextBox 4"/>
          <p:cNvSpPr txBox="1"/>
          <p:nvPr/>
        </p:nvSpPr>
        <p:spPr>
          <a:xfrm>
            <a:off x="10789920" y="6528816"/>
            <a:ext cx="914400" cy="164592"/>
          </a:xfrm>
          <a:prstGeom prst="rect">
            <a:avLst/>
          </a:prstGeom>
          <a:noFill/>
        </p:spPr>
        <p:txBody>
          <a:bodyPr wrap="square" lIns="54864" tIns="54864" rIns="54864" bIns="54864" anchor="t">
            <a:spAutoFit/>
          </a:bodyPr>
          <a:lstStyle/>
          <a:p>
            <a:pPr algn="r">
              <a:spcAft>
                <a:spcPts val="500"/>
              </a:spcAft>
              <a:defRPr sz="800" b="0" i="0">
                <a:solidFill>
                  <a:srgbClr val="5E7082"/>
                </a:solidFill>
                <a:latin typeface="Aptos"/>
              </a:defRPr>
            </a:pPr>
            <a:r>
              <a:t>02  /  14</a:t>
            </a:r>
          </a:p>
        </p:txBody>
      </p:sp>
      <p:sp>
        <p:nvSpPr>
          <p:cNvPr id="6" name="Rounded Rectangle 5"/>
          <p:cNvSpPr/>
          <p:nvPr/>
        </p:nvSpPr>
        <p:spPr>
          <a:xfrm>
            <a:off x="594360" y="1234440"/>
            <a:ext cx="4754880" cy="182880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234440"/>
            <a:ext cx="73152" cy="1828800"/>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399032"/>
            <a:ext cx="4370832" cy="329184"/>
          </a:xfrm>
          <a:prstGeom prst="rect">
            <a:avLst/>
          </a:prstGeom>
          <a:noFill/>
        </p:spPr>
        <p:txBody>
          <a:bodyPr wrap="square" lIns="54864" tIns="54864" rIns="54864" bIns="54864" anchor="t">
            <a:spAutoFit/>
          </a:bodyPr>
          <a:lstStyle/>
          <a:p>
            <a:pPr algn="l">
              <a:spcAft>
                <a:spcPts val="500"/>
              </a:spcAft>
              <a:defRPr sz="1700" b="1" i="0">
                <a:solidFill>
                  <a:srgbClr val="0F2340"/>
                </a:solidFill>
                <a:latin typeface="Aptos"/>
              </a:defRPr>
            </a:pPr>
            <a:r>
              <a:t>What is the Knapsack Problem?</a:t>
            </a:r>
          </a:p>
        </p:txBody>
      </p:sp>
      <p:sp>
        <p:nvSpPr>
          <p:cNvPr id="9" name="TextBox 8"/>
          <p:cNvSpPr txBox="1"/>
          <p:nvPr/>
        </p:nvSpPr>
        <p:spPr>
          <a:xfrm>
            <a:off x="795528" y="1819656"/>
            <a:ext cx="4370832" cy="1115568"/>
          </a:xfrm>
          <a:prstGeom prst="rect">
            <a:avLst/>
          </a:prstGeom>
          <a:noFill/>
        </p:spPr>
        <p:txBody>
          <a:bodyPr wrap="square" lIns="54864" tIns="54864" rIns="54864" bIns="54864" anchor="t">
            <a:spAutoFit/>
          </a:bodyPr>
          <a:lstStyle/>
          <a:p>
            <a:pPr algn="l">
              <a:spcAft>
                <a:spcPts val="500"/>
              </a:spcAft>
              <a:defRPr sz="1600" b="0" i="0">
                <a:solidFill>
                  <a:srgbClr val="233141"/>
                </a:solidFill>
                <a:latin typeface="Aptos"/>
              </a:defRPr>
            </a:pPr>
            <a:r>
              <a:t>Choose a subset of items with given weights and values so that total value is as large as possible without exceeding the bag’s capacity.</a:t>
            </a:r>
          </a:p>
        </p:txBody>
      </p:sp>
      <p:sp>
        <p:nvSpPr>
          <p:cNvPr id="10" name="Rounded Rectangle 9"/>
          <p:cNvSpPr/>
          <p:nvPr/>
        </p:nvSpPr>
        <p:spPr>
          <a:xfrm>
            <a:off x="594360" y="3291840"/>
            <a:ext cx="4754880" cy="182880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94360" y="3291840"/>
            <a:ext cx="73152" cy="1828800"/>
          </a:xfrm>
          <a:prstGeom prst="rect">
            <a:avLst/>
          </a:prstGeom>
          <a:solidFill>
            <a:srgbClr val="FFBE4B"/>
          </a:solidFill>
          <a:ln>
            <a:solidFill>
              <a:srgbClr val="FFBE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8" y="3456432"/>
            <a:ext cx="4370832" cy="329184"/>
          </a:xfrm>
          <a:prstGeom prst="rect">
            <a:avLst/>
          </a:prstGeom>
          <a:noFill/>
        </p:spPr>
        <p:txBody>
          <a:bodyPr wrap="square" lIns="54864" tIns="54864" rIns="54864" bIns="54864" anchor="t">
            <a:spAutoFit/>
          </a:bodyPr>
          <a:lstStyle/>
          <a:p>
            <a:pPr algn="l">
              <a:spcAft>
                <a:spcPts val="500"/>
              </a:spcAft>
              <a:defRPr sz="1700" b="1" i="0">
                <a:solidFill>
                  <a:srgbClr val="0F2340"/>
                </a:solidFill>
                <a:latin typeface="Aptos"/>
              </a:defRPr>
            </a:pPr>
            <a:r>
              <a:t>Why is it an optimization problem?</a:t>
            </a:r>
          </a:p>
        </p:txBody>
      </p:sp>
      <p:sp>
        <p:nvSpPr>
          <p:cNvPr id="13" name="TextBox 12"/>
          <p:cNvSpPr txBox="1"/>
          <p:nvPr/>
        </p:nvSpPr>
        <p:spPr>
          <a:xfrm>
            <a:off x="795528" y="3877056"/>
            <a:ext cx="4370832" cy="1115568"/>
          </a:xfrm>
          <a:prstGeom prst="rect">
            <a:avLst/>
          </a:prstGeom>
          <a:noFill/>
        </p:spPr>
        <p:txBody>
          <a:bodyPr wrap="square" lIns="54864" tIns="54864" rIns="54864" bIns="54864" anchor="t">
            <a:spAutoFit/>
          </a:bodyPr>
          <a:lstStyle/>
          <a:p>
            <a:pPr algn="l">
              <a:spcAft>
                <a:spcPts val="500"/>
              </a:spcAft>
              <a:defRPr sz="1600" b="0" i="0">
                <a:solidFill>
                  <a:srgbClr val="233141"/>
                </a:solidFill>
                <a:latin typeface="Aptos"/>
              </a:defRPr>
            </a:pPr>
            <a:r>
              <a:t>There are many possible combinations. The algorithm compares choices to find the best feasible combination.</a:t>
            </a:r>
          </a:p>
        </p:txBody>
      </p:sp>
      <p:sp>
        <p:nvSpPr>
          <p:cNvPr id="14" name="TextBox 13"/>
          <p:cNvSpPr txBox="1"/>
          <p:nvPr/>
        </p:nvSpPr>
        <p:spPr>
          <a:xfrm>
            <a:off x="5806440" y="1325880"/>
            <a:ext cx="5394960" cy="320040"/>
          </a:xfrm>
          <a:prstGeom prst="rect">
            <a:avLst/>
          </a:prstGeom>
          <a:noFill/>
        </p:spPr>
        <p:txBody>
          <a:bodyPr wrap="square" lIns="54864" tIns="54864" rIns="54864" bIns="54864" anchor="t">
            <a:spAutoFit/>
          </a:bodyPr>
          <a:lstStyle/>
          <a:p>
            <a:pPr algn="l">
              <a:spcAft>
                <a:spcPts val="500"/>
              </a:spcAft>
              <a:defRPr sz="1300" b="1" i="0">
                <a:solidFill>
                  <a:srgbClr val="00B1A9"/>
                </a:solidFill>
                <a:latin typeface="Aptos"/>
              </a:defRPr>
            </a:pPr>
            <a:r>
              <a:t>REAL-LIFE EXAMPLE</a:t>
            </a:r>
          </a:p>
        </p:txBody>
      </p:sp>
      <p:sp>
        <p:nvSpPr>
          <p:cNvPr id="15" name="Rounded Rectangle 14"/>
          <p:cNvSpPr/>
          <p:nvPr/>
        </p:nvSpPr>
        <p:spPr>
          <a:xfrm>
            <a:off x="7360920" y="2057400"/>
            <a:ext cx="2377440" cy="2423160"/>
          </a:xfrm>
          <a:prstGeom prst="roundRect">
            <a:avLst/>
          </a:prstGeom>
          <a:solidFill>
            <a:srgbClr val="163452"/>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Arc 15"/>
          <p:cNvSpPr/>
          <p:nvPr/>
        </p:nvSpPr>
        <p:spPr>
          <a:xfrm>
            <a:off x="7818120" y="1508760"/>
            <a:ext cx="1508760" cy="1097280"/>
          </a:xfrm>
          <a:prstGeom prst="arc">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35240" y="2743200"/>
            <a:ext cx="1828800" cy="731520"/>
          </a:xfrm>
          <a:prstGeom prst="rect">
            <a:avLst/>
          </a:prstGeom>
          <a:noFill/>
        </p:spPr>
        <p:txBody>
          <a:bodyPr wrap="square" lIns="54864" tIns="54864" rIns="54864" bIns="54864" anchor="ctr">
            <a:spAutoFit/>
          </a:bodyPr>
          <a:lstStyle/>
          <a:p>
            <a:pPr algn="ctr">
              <a:spcAft>
                <a:spcPts val="500"/>
              </a:spcAft>
              <a:defRPr sz="2400" b="1" i="0">
                <a:solidFill>
                  <a:srgbClr val="FFFFFF"/>
                </a:solidFill>
                <a:latin typeface="Aptos"/>
              </a:defRPr>
            </a:pPr>
            <a:r>
              <a:t>MAX</a:t>
            </a:r>
          </a:p>
          <a:p>
            <a:pPr algn="ctr">
              <a:spcAft>
                <a:spcPts val="500"/>
              </a:spcAft>
              <a:defRPr sz="2400" b="1" i="0">
                <a:solidFill>
                  <a:srgbClr val="FFFFFF"/>
                </a:solidFill>
                <a:latin typeface="Aptos"/>
              </a:defRPr>
            </a:pPr>
            <a:r>
              <a:t>7 kg</a:t>
            </a:r>
          </a:p>
        </p:txBody>
      </p:sp>
      <p:sp>
        <p:nvSpPr>
          <p:cNvPr id="18" name="Rounded Rectangle 17"/>
          <p:cNvSpPr/>
          <p:nvPr/>
        </p:nvSpPr>
        <p:spPr>
          <a:xfrm>
            <a:off x="5669280" y="4800600"/>
            <a:ext cx="1005840" cy="658368"/>
          </a:xfrm>
          <a:prstGeom prst="roundRect">
            <a:avLst/>
          </a:prstGeom>
          <a:solidFill>
            <a:srgbClr val="FFBE4B"/>
          </a:solidFill>
          <a:ln>
            <a:solidFill>
              <a:srgbClr val="FFBE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0" y="4965192"/>
            <a:ext cx="1005840" cy="228600"/>
          </a:xfrm>
          <a:prstGeom prst="rect">
            <a:avLst/>
          </a:prstGeom>
          <a:noFill/>
        </p:spPr>
        <p:txBody>
          <a:bodyPr wrap="square" lIns="54864" tIns="54864" rIns="54864" bIns="54864" anchor="t">
            <a:spAutoFit/>
          </a:bodyPr>
          <a:lstStyle/>
          <a:p>
            <a:pPr algn="ctr">
              <a:spcAft>
                <a:spcPts val="500"/>
              </a:spcAft>
              <a:defRPr sz="1600" b="1" i="0">
                <a:solidFill>
                  <a:srgbClr val="0F2340"/>
                </a:solidFill>
                <a:latin typeface="Aptos"/>
              </a:defRPr>
            </a:pPr>
            <a:r>
              <a:t>A</a:t>
            </a:r>
          </a:p>
        </p:txBody>
      </p:sp>
      <p:sp>
        <p:nvSpPr>
          <p:cNvPr id="20" name="Rounded Rectangle 19"/>
          <p:cNvSpPr/>
          <p:nvPr/>
        </p:nvSpPr>
        <p:spPr>
          <a:xfrm>
            <a:off x="6995160" y="4800600"/>
            <a:ext cx="1005840" cy="658368"/>
          </a:xfrm>
          <a:prstGeom prst="round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95160" y="4965192"/>
            <a:ext cx="1005840" cy="228600"/>
          </a:xfrm>
          <a:prstGeom prst="rect">
            <a:avLst/>
          </a:prstGeom>
          <a:noFill/>
        </p:spPr>
        <p:txBody>
          <a:bodyPr wrap="square" lIns="54864" tIns="54864" rIns="54864" bIns="54864" anchor="t">
            <a:spAutoFit/>
          </a:bodyPr>
          <a:lstStyle/>
          <a:p>
            <a:pPr algn="ctr">
              <a:spcAft>
                <a:spcPts val="500"/>
              </a:spcAft>
              <a:defRPr sz="1600" b="1" i="0">
                <a:solidFill>
                  <a:srgbClr val="0F2340"/>
                </a:solidFill>
                <a:latin typeface="Aptos"/>
              </a:defRPr>
            </a:pPr>
            <a:r>
              <a:t>B</a:t>
            </a:r>
          </a:p>
        </p:txBody>
      </p:sp>
      <p:sp>
        <p:nvSpPr>
          <p:cNvPr id="22" name="Rounded Rectangle 21"/>
          <p:cNvSpPr/>
          <p:nvPr/>
        </p:nvSpPr>
        <p:spPr>
          <a:xfrm>
            <a:off x="8321040" y="4800600"/>
            <a:ext cx="1005840" cy="658368"/>
          </a:xfrm>
          <a:prstGeom prst="roundRect">
            <a:avLst/>
          </a:prstGeom>
          <a:solidFill>
            <a:srgbClr val="E2574C"/>
          </a:solidFill>
          <a:ln>
            <a:solidFill>
              <a:srgbClr val="E25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21040" y="4965192"/>
            <a:ext cx="1005840" cy="228600"/>
          </a:xfrm>
          <a:prstGeom prst="rect">
            <a:avLst/>
          </a:prstGeom>
          <a:noFill/>
        </p:spPr>
        <p:txBody>
          <a:bodyPr wrap="square" lIns="54864" tIns="54864" rIns="54864" bIns="54864" anchor="t">
            <a:spAutoFit/>
          </a:bodyPr>
          <a:lstStyle/>
          <a:p>
            <a:pPr algn="ctr">
              <a:spcAft>
                <a:spcPts val="500"/>
              </a:spcAft>
              <a:defRPr sz="1600" b="1" i="0">
                <a:solidFill>
                  <a:srgbClr val="0F2340"/>
                </a:solidFill>
                <a:latin typeface="Aptos"/>
              </a:defRPr>
            </a:pPr>
            <a:r>
              <a:t>C</a:t>
            </a:r>
          </a:p>
        </p:txBody>
      </p:sp>
      <p:sp>
        <p:nvSpPr>
          <p:cNvPr id="24" name="TextBox 23"/>
          <p:cNvSpPr txBox="1"/>
          <p:nvPr/>
        </p:nvSpPr>
        <p:spPr>
          <a:xfrm>
            <a:off x="5532120" y="5669280"/>
            <a:ext cx="5577840" cy="457200"/>
          </a:xfrm>
          <a:prstGeom prst="rect">
            <a:avLst/>
          </a:prstGeom>
          <a:noFill/>
        </p:spPr>
        <p:txBody>
          <a:bodyPr wrap="square" lIns="54864" tIns="54864" rIns="54864" bIns="54864" anchor="t">
            <a:spAutoFit/>
          </a:bodyPr>
          <a:lstStyle/>
          <a:p>
            <a:pPr algn="ctr">
              <a:spcAft>
                <a:spcPts val="500"/>
              </a:spcAft>
              <a:defRPr sz="1500" b="0" i="0">
                <a:solidFill>
                  <a:srgbClr val="233141"/>
                </a:solidFill>
                <a:latin typeface="Aptos"/>
              </a:defRPr>
            </a:pPr>
            <a:r>
              <a:t>Pack the most valuable items; leave out items that exceed the limit.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502920"/>
          </a:xfrm>
          <a:prstGeom prst="rect">
            <a:avLst/>
          </a:prstGeom>
          <a:noFill/>
        </p:spPr>
        <p:txBody>
          <a:bodyPr wrap="square" lIns="54864" tIns="54864" rIns="54864" bIns="54864" anchor="t">
            <a:spAutoFit/>
          </a:bodyPr>
          <a:lstStyle/>
          <a:p>
            <a:pPr algn="l">
              <a:spcAft>
                <a:spcPts val="500"/>
              </a:spcAft>
              <a:defRPr sz="2700" b="1" i="0">
                <a:solidFill>
                  <a:srgbClr val="0F2340"/>
                </a:solidFill>
                <a:latin typeface="Aptos"/>
              </a:defRPr>
            </a:pPr>
            <a:r>
              <a:t>2. Problem Statement &amp; Mathematical Model</a:t>
            </a:r>
          </a:p>
        </p:txBody>
      </p:sp>
      <p:sp>
        <p:nvSpPr>
          <p:cNvPr id="3" name="Rectangle 2"/>
          <p:cNvSpPr/>
          <p:nvPr/>
        </p:nvSpPr>
        <p:spPr>
          <a:xfrm>
            <a:off x="530352" y="896112"/>
            <a:ext cx="914400" cy="50292"/>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509760" y="347472"/>
            <a:ext cx="2057400" cy="256032"/>
          </a:xfrm>
          <a:prstGeom prst="rect">
            <a:avLst/>
          </a:prstGeom>
          <a:noFill/>
        </p:spPr>
        <p:txBody>
          <a:bodyPr wrap="square" lIns="54864" tIns="54864" rIns="54864" bIns="54864" anchor="t">
            <a:spAutoFit/>
          </a:bodyPr>
          <a:lstStyle/>
          <a:p>
            <a:pPr algn="r">
              <a:spcAft>
                <a:spcPts val="500"/>
              </a:spcAft>
              <a:defRPr sz="900" b="1" i="0">
                <a:solidFill>
                  <a:srgbClr val="00B1A9"/>
                </a:solidFill>
                <a:latin typeface="Aptos"/>
              </a:defRPr>
            </a:pPr>
            <a:r>
              <a:t>FORMULATION</a:t>
            </a:r>
          </a:p>
        </p:txBody>
      </p:sp>
      <p:sp>
        <p:nvSpPr>
          <p:cNvPr id="5" name="TextBox 4"/>
          <p:cNvSpPr txBox="1"/>
          <p:nvPr/>
        </p:nvSpPr>
        <p:spPr>
          <a:xfrm>
            <a:off x="10789920" y="6528816"/>
            <a:ext cx="914400" cy="164592"/>
          </a:xfrm>
          <a:prstGeom prst="rect">
            <a:avLst/>
          </a:prstGeom>
          <a:noFill/>
        </p:spPr>
        <p:txBody>
          <a:bodyPr wrap="square" lIns="54864" tIns="54864" rIns="54864" bIns="54864" anchor="t">
            <a:spAutoFit/>
          </a:bodyPr>
          <a:lstStyle/>
          <a:p>
            <a:pPr algn="r">
              <a:spcAft>
                <a:spcPts val="500"/>
              </a:spcAft>
              <a:defRPr sz="800" b="0" i="0">
                <a:solidFill>
                  <a:srgbClr val="5E7082"/>
                </a:solidFill>
                <a:latin typeface="Aptos"/>
              </a:defRPr>
            </a:pPr>
            <a:r>
              <a:t>03  /  14</a:t>
            </a:r>
          </a:p>
        </p:txBody>
      </p:sp>
      <p:sp>
        <p:nvSpPr>
          <p:cNvPr id="6" name="TextBox 5"/>
          <p:cNvSpPr txBox="1"/>
          <p:nvPr/>
        </p:nvSpPr>
        <p:spPr>
          <a:xfrm>
            <a:off x="685800" y="1170432"/>
            <a:ext cx="10881360" cy="502920"/>
          </a:xfrm>
          <a:prstGeom prst="rect">
            <a:avLst/>
          </a:prstGeom>
          <a:noFill/>
        </p:spPr>
        <p:txBody>
          <a:bodyPr wrap="square" lIns="54864" tIns="54864" rIns="54864" bIns="54864" anchor="t">
            <a:spAutoFit/>
          </a:bodyPr>
          <a:lstStyle/>
          <a:p>
            <a:pPr algn="l">
              <a:spcAft>
                <a:spcPts val="500"/>
              </a:spcAft>
              <a:defRPr sz="1800" b="0" i="0">
                <a:solidFill>
                  <a:srgbClr val="233141"/>
                </a:solidFill>
                <a:latin typeface="Aptos"/>
              </a:defRPr>
            </a:pPr>
            <a:r>
              <a:t>Given n items, each item i has weight wᵢ and profit pᵢ. The knapsack capacity is W.</a:t>
            </a:r>
          </a:p>
        </p:txBody>
      </p:sp>
      <p:sp>
        <p:nvSpPr>
          <p:cNvPr id="7" name="Rounded Rectangle 6"/>
          <p:cNvSpPr/>
          <p:nvPr/>
        </p:nvSpPr>
        <p:spPr>
          <a:xfrm>
            <a:off x="731520" y="1874519"/>
            <a:ext cx="10744200" cy="1325880"/>
          </a:xfrm>
          <a:prstGeom prst="roundRect">
            <a:avLst/>
          </a:prstGeom>
          <a:solidFill>
            <a:srgbClr val="0F2340"/>
          </a:solidFill>
          <a:ln>
            <a:solidFill>
              <a:srgbClr val="0F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2084831"/>
            <a:ext cx="4754880" cy="438912"/>
          </a:xfrm>
          <a:prstGeom prst="rect">
            <a:avLst/>
          </a:prstGeom>
          <a:noFill/>
        </p:spPr>
        <p:txBody>
          <a:bodyPr wrap="square" lIns="54864" tIns="54864" rIns="54864" bIns="54864" anchor="t">
            <a:spAutoFit/>
          </a:bodyPr>
          <a:lstStyle/>
          <a:p>
            <a:pPr algn="l">
              <a:spcAft>
                <a:spcPts val="500"/>
              </a:spcAft>
              <a:defRPr sz="2400" b="1" i="0">
                <a:solidFill>
                  <a:srgbClr val="FFFFFF"/>
                </a:solidFill>
                <a:latin typeface="Aptos"/>
              </a:defRPr>
            </a:pPr>
            <a:r>
              <a:t>Maximize:   Σ pᵢ xᵢ</a:t>
            </a:r>
          </a:p>
        </p:txBody>
      </p:sp>
      <p:sp>
        <p:nvSpPr>
          <p:cNvPr id="9" name="TextBox 8"/>
          <p:cNvSpPr txBox="1"/>
          <p:nvPr/>
        </p:nvSpPr>
        <p:spPr>
          <a:xfrm>
            <a:off x="5577840" y="2084831"/>
            <a:ext cx="5486400" cy="438912"/>
          </a:xfrm>
          <a:prstGeom prst="rect">
            <a:avLst/>
          </a:prstGeom>
          <a:noFill/>
        </p:spPr>
        <p:txBody>
          <a:bodyPr wrap="square" lIns="54864" tIns="54864" rIns="54864" bIns="54864" anchor="t">
            <a:spAutoFit/>
          </a:bodyPr>
          <a:lstStyle/>
          <a:p>
            <a:pPr algn="l">
              <a:spcAft>
                <a:spcPts val="500"/>
              </a:spcAft>
              <a:defRPr sz="1900" b="1" i="0">
                <a:solidFill>
                  <a:srgbClr val="BEF4EE"/>
                </a:solidFill>
                <a:latin typeface="Aptos"/>
              </a:defRPr>
            </a:pPr>
            <a:r>
              <a:t>Subject to:  Σ wᵢ xᵢ ≤ W     and     xᵢ ∈ {0, 1}</a:t>
            </a:r>
          </a:p>
        </p:txBody>
      </p:sp>
      <p:sp>
        <p:nvSpPr>
          <p:cNvPr id="10" name="TextBox 9"/>
          <p:cNvSpPr txBox="1"/>
          <p:nvPr/>
        </p:nvSpPr>
        <p:spPr>
          <a:xfrm>
            <a:off x="777240" y="3611880"/>
            <a:ext cx="4754880" cy="292608"/>
          </a:xfrm>
          <a:prstGeom prst="rect">
            <a:avLst/>
          </a:prstGeom>
          <a:noFill/>
        </p:spPr>
        <p:txBody>
          <a:bodyPr wrap="square" lIns="54864" tIns="54864" rIns="54864" bIns="54864" anchor="t">
            <a:spAutoFit/>
          </a:bodyPr>
          <a:lstStyle/>
          <a:p>
            <a:pPr algn="l">
              <a:spcAft>
                <a:spcPts val="500"/>
              </a:spcAft>
              <a:defRPr sz="1200" b="1" i="0">
                <a:solidFill>
                  <a:srgbClr val="00B1A9"/>
                </a:solidFill>
                <a:latin typeface="Aptos"/>
              </a:defRPr>
            </a:pPr>
            <a:r>
              <a:t>VARIABLES IN SIMPLE WORDS</a:t>
            </a:r>
          </a:p>
        </p:txBody>
      </p:sp>
      <p:sp>
        <p:nvSpPr>
          <p:cNvPr id="11" name="Rounded Rectangle 10"/>
          <p:cNvSpPr/>
          <p:nvPr/>
        </p:nvSpPr>
        <p:spPr>
          <a:xfrm>
            <a:off x="822960" y="4041648"/>
            <a:ext cx="868680" cy="292608"/>
          </a:xfrm>
          <a:prstGeom prst="roundRect">
            <a:avLst/>
          </a:prstGeom>
          <a:solidFill>
            <a:srgbClr val="BEF4EE"/>
          </a:solidFill>
          <a:ln>
            <a:solidFill>
              <a:srgbClr val="BEF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4069080"/>
            <a:ext cx="822960" cy="201168"/>
          </a:xfrm>
          <a:prstGeom prst="rect">
            <a:avLst/>
          </a:prstGeom>
          <a:noFill/>
        </p:spPr>
        <p:txBody>
          <a:bodyPr wrap="square" lIns="54864" tIns="54864" rIns="54864" bIns="54864" anchor="t">
            <a:spAutoFit/>
          </a:bodyPr>
          <a:lstStyle/>
          <a:p>
            <a:pPr algn="ctr">
              <a:spcAft>
                <a:spcPts val="500"/>
              </a:spcAft>
              <a:defRPr sz="1200" b="1" i="0">
                <a:solidFill>
                  <a:srgbClr val="0F2340"/>
                </a:solidFill>
                <a:latin typeface="Aptos"/>
              </a:defRPr>
            </a:pPr>
            <a:r>
              <a:t>n</a:t>
            </a:r>
          </a:p>
        </p:txBody>
      </p:sp>
      <p:sp>
        <p:nvSpPr>
          <p:cNvPr id="13" name="TextBox 12"/>
          <p:cNvSpPr txBox="1"/>
          <p:nvPr/>
        </p:nvSpPr>
        <p:spPr>
          <a:xfrm>
            <a:off x="1874519" y="4059935"/>
            <a:ext cx="4297680" cy="256032"/>
          </a:xfrm>
          <a:prstGeom prst="rect">
            <a:avLst/>
          </a:prstGeom>
          <a:noFill/>
        </p:spPr>
        <p:txBody>
          <a:bodyPr wrap="square" lIns="54864" tIns="54864" rIns="54864" bIns="54864" anchor="t">
            <a:spAutoFit/>
          </a:bodyPr>
          <a:lstStyle/>
          <a:p>
            <a:pPr algn="l">
              <a:spcAft>
                <a:spcPts val="500"/>
              </a:spcAft>
              <a:defRPr sz="1400" b="0" i="0">
                <a:solidFill>
                  <a:srgbClr val="233141"/>
                </a:solidFill>
                <a:latin typeface="Aptos"/>
              </a:defRPr>
            </a:pPr>
            <a:r>
              <a:t>Number of available items</a:t>
            </a:r>
          </a:p>
        </p:txBody>
      </p:sp>
      <p:sp>
        <p:nvSpPr>
          <p:cNvPr id="14" name="Rounded Rectangle 13"/>
          <p:cNvSpPr/>
          <p:nvPr/>
        </p:nvSpPr>
        <p:spPr>
          <a:xfrm>
            <a:off x="822960" y="4434840"/>
            <a:ext cx="868680" cy="292608"/>
          </a:xfrm>
          <a:prstGeom prst="roundRect">
            <a:avLst/>
          </a:prstGeom>
          <a:solidFill>
            <a:srgbClr val="BEF4EE"/>
          </a:solidFill>
          <a:ln>
            <a:solidFill>
              <a:srgbClr val="BEF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 y="4462272"/>
            <a:ext cx="822960" cy="201168"/>
          </a:xfrm>
          <a:prstGeom prst="rect">
            <a:avLst/>
          </a:prstGeom>
          <a:noFill/>
        </p:spPr>
        <p:txBody>
          <a:bodyPr wrap="square" lIns="54864" tIns="54864" rIns="54864" bIns="54864" anchor="t">
            <a:spAutoFit/>
          </a:bodyPr>
          <a:lstStyle/>
          <a:p>
            <a:pPr algn="ctr">
              <a:spcAft>
                <a:spcPts val="500"/>
              </a:spcAft>
              <a:defRPr sz="1200" b="1" i="0">
                <a:solidFill>
                  <a:srgbClr val="0F2340"/>
                </a:solidFill>
                <a:latin typeface="Aptos"/>
              </a:defRPr>
            </a:pPr>
            <a:r>
              <a:t>wᵢ</a:t>
            </a:r>
          </a:p>
        </p:txBody>
      </p:sp>
      <p:sp>
        <p:nvSpPr>
          <p:cNvPr id="16" name="TextBox 15"/>
          <p:cNvSpPr txBox="1"/>
          <p:nvPr/>
        </p:nvSpPr>
        <p:spPr>
          <a:xfrm>
            <a:off x="1874519" y="4453127"/>
            <a:ext cx="4297680" cy="256032"/>
          </a:xfrm>
          <a:prstGeom prst="rect">
            <a:avLst/>
          </a:prstGeom>
          <a:noFill/>
        </p:spPr>
        <p:txBody>
          <a:bodyPr wrap="square" lIns="54864" tIns="54864" rIns="54864" bIns="54864" anchor="t">
            <a:spAutoFit/>
          </a:bodyPr>
          <a:lstStyle/>
          <a:p>
            <a:pPr algn="l">
              <a:spcAft>
                <a:spcPts val="500"/>
              </a:spcAft>
              <a:defRPr sz="1400" b="0" i="0">
                <a:solidFill>
                  <a:srgbClr val="233141"/>
                </a:solidFill>
                <a:latin typeface="Aptos"/>
              </a:defRPr>
            </a:pPr>
            <a:r>
              <a:t>Weight of item i</a:t>
            </a:r>
          </a:p>
        </p:txBody>
      </p:sp>
      <p:sp>
        <p:nvSpPr>
          <p:cNvPr id="17" name="Rounded Rectangle 16"/>
          <p:cNvSpPr/>
          <p:nvPr/>
        </p:nvSpPr>
        <p:spPr>
          <a:xfrm>
            <a:off x="822960" y="4828032"/>
            <a:ext cx="868680" cy="292608"/>
          </a:xfrm>
          <a:prstGeom prst="roundRect">
            <a:avLst/>
          </a:prstGeom>
          <a:solidFill>
            <a:srgbClr val="BEF4EE"/>
          </a:solidFill>
          <a:ln>
            <a:solidFill>
              <a:srgbClr val="BEF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8" y="4855464"/>
            <a:ext cx="822960" cy="201168"/>
          </a:xfrm>
          <a:prstGeom prst="rect">
            <a:avLst/>
          </a:prstGeom>
          <a:noFill/>
        </p:spPr>
        <p:txBody>
          <a:bodyPr wrap="square" lIns="54864" tIns="54864" rIns="54864" bIns="54864" anchor="t">
            <a:spAutoFit/>
          </a:bodyPr>
          <a:lstStyle/>
          <a:p>
            <a:pPr algn="ctr">
              <a:spcAft>
                <a:spcPts val="500"/>
              </a:spcAft>
              <a:defRPr sz="1200" b="1" i="0">
                <a:solidFill>
                  <a:srgbClr val="0F2340"/>
                </a:solidFill>
                <a:latin typeface="Aptos"/>
              </a:defRPr>
            </a:pPr>
            <a:r>
              <a:t>pᵢ</a:t>
            </a:r>
          </a:p>
        </p:txBody>
      </p:sp>
      <p:sp>
        <p:nvSpPr>
          <p:cNvPr id="19" name="TextBox 18"/>
          <p:cNvSpPr txBox="1"/>
          <p:nvPr/>
        </p:nvSpPr>
        <p:spPr>
          <a:xfrm>
            <a:off x="1874519" y="4846320"/>
            <a:ext cx="4297680" cy="256032"/>
          </a:xfrm>
          <a:prstGeom prst="rect">
            <a:avLst/>
          </a:prstGeom>
          <a:noFill/>
        </p:spPr>
        <p:txBody>
          <a:bodyPr wrap="square" lIns="54864" tIns="54864" rIns="54864" bIns="54864" anchor="t">
            <a:spAutoFit/>
          </a:bodyPr>
          <a:lstStyle/>
          <a:p>
            <a:pPr algn="l">
              <a:spcAft>
                <a:spcPts val="500"/>
              </a:spcAft>
              <a:defRPr sz="1400" b="0" i="0">
                <a:solidFill>
                  <a:srgbClr val="233141"/>
                </a:solidFill>
                <a:latin typeface="Aptos"/>
              </a:defRPr>
            </a:pPr>
            <a:r>
              <a:t>Profit/value of item i</a:t>
            </a:r>
          </a:p>
        </p:txBody>
      </p:sp>
      <p:sp>
        <p:nvSpPr>
          <p:cNvPr id="20" name="Rounded Rectangle 19"/>
          <p:cNvSpPr/>
          <p:nvPr/>
        </p:nvSpPr>
        <p:spPr>
          <a:xfrm>
            <a:off x="822960" y="5221224"/>
            <a:ext cx="868680" cy="292608"/>
          </a:xfrm>
          <a:prstGeom prst="roundRect">
            <a:avLst/>
          </a:prstGeom>
          <a:solidFill>
            <a:srgbClr val="BEF4EE"/>
          </a:solidFill>
          <a:ln>
            <a:solidFill>
              <a:srgbClr val="BEF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8" y="5248656"/>
            <a:ext cx="822960" cy="201168"/>
          </a:xfrm>
          <a:prstGeom prst="rect">
            <a:avLst/>
          </a:prstGeom>
          <a:noFill/>
        </p:spPr>
        <p:txBody>
          <a:bodyPr wrap="square" lIns="54864" tIns="54864" rIns="54864" bIns="54864" anchor="t">
            <a:spAutoFit/>
          </a:bodyPr>
          <a:lstStyle/>
          <a:p>
            <a:pPr algn="ctr">
              <a:spcAft>
                <a:spcPts val="500"/>
              </a:spcAft>
              <a:defRPr sz="1200" b="1" i="0">
                <a:solidFill>
                  <a:srgbClr val="0F2340"/>
                </a:solidFill>
                <a:latin typeface="Aptos"/>
              </a:defRPr>
            </a:pPr>
            <a:r>
              <a:t>W</a:t>
            </a:r>
          </a:p>
        </p:txBody>
      </p:sp>
      <p:sp>
        <p:nvSpPr>
          <p:cNvPr id="22" name="TextBox 21"/>
          <p:cNvSpPr txBox="1"/>
          <p:nvPr/>
        </p:nvSpPr>
        <p:spPr>
          <a:xfrm>
            <a:off x="1874519" y="5239512"/>
            <a:ext cx="4297680" cy="256032"/>
          </a:xfrm>
          <a:prstGeom prst="rect">
            <a:avLst/>
          </a:prstGeom>
          <a:noFill/>
        </p:spPr>
        <p:txBody>
          <a:bodyPr wrap="square" lIns="54864" tIns="54864" rIns="54864" bIns="54864" anchor="t">
            <a:spAutoFit/>
          </a:bodyPr>
          <a:lstStyle/>
          <a:p>
            <a:pPr algn="l">
              <a:spcAft>
                <a:spcPts val="500"/>
              </a:spcAft>
              <a:defRPr sz="1400" b="0" i="0">
                <a:solidFill>
                  <a:srgbClr val="233141"/>
                </a:solidFill>
                <a:latin typeface="Aptos"/>
              </a:defRPr>
            </a:pPr>
            <a:r>
              <a:t>Maximum capacity</a:t>
            </a:r>
          </a:p>
        </p:txBody>
      </p:sp>
      <p:sp>
        <p:nvSpPr>
          <p:cNvPr id="23" name="Rounded Rectangle 22"/>
          <p:cNvSpPr/>
          <p:nvPr/>
        </p:nvSpPr>
        <p:spPr>
          <a:xfrm>
            <a:off x="822960" y="5614416"/>
            <a:ext cx="868680" cy="292608"/>
          </a:xfrm>
          <a:prstGeom prst="roundRect">
            <a:avLst/>
          </a:prstGeom>
          <a:solidFill>
            <a:srgbClr val="BEF4EE"/>
          </a:solidFill>
          <a:ln>
            <a:solidFill>
              <a:srgbClr val="BEF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1248" y="5641848"/>
            <a:ext cx="822960" cy="201168"/>
          </a:xfrm>
          <a:prstGeom prst="rect">
            <a:avLst/>
          </a:prstGeom>
          <a:noFill/>
        </p:spPr>
        <p:txBody>
          <a:bodyPr wrap="square" lIns="54864" tIns="54864" rIns="54864" bIns="54864" anchor="t">
            <a:spAutoFit/>
          </a:bodyPr>
          <a:lstStyle/>
          <a:p>
            <a:pPr algn="ctr">
              <a:spcAft>
                <a:spcPts val="500"/>
              </a:spcAft>
              <a:defRPr sz="1200" b="1" i="0">
                <a:solidFill>
                  <a:srgbClr val="0F2340"/>
                </a:solidFill>
                <a:latin typeface="Aptos"/>
              </a:defRPr>
            </a:pPr>
            <a:r>
              <a:t>xᵢ</a:t>
            </a:r>
          </a:p>
        </p:txBody>
      </p:sp>
      <p:sp>
        <p:nvSpPr>
          <p:cNvPr id="25" name="TextBox 24"/>
          <p:cNvSpPr txBox="1"/>
          <p:nvPr/>
        </p:nvSpPr>
        <p:spPr>
          <a:xfrm>
            <a:off x="1874519" y="5632703"/>
            <a:ext cx="4297680" cy="256032"/>
          </a:xfrm>
          <a:prstGeom prst="rect">
            <a:avLst/>
          </a:prstGeom>
          <a:noFill/>
        </p:spPr>
        <p:txBody>
          <a:bodyPr wrap="square" lIns="54864" tIns="54864" rIns="54864" bIns="54864" anchor="t">
            <a:spAutoFit/>
          </a:bodyPr>
          <a:lstStyle/>
          <a:p>
            <a:pPr algn="l">
              <a:spcAft>
                <a:spcPts val="500"/>
              </a:spcAft>
              <a:defRPr sz="1400" b="0" i="0">
                <a:solidFill>
                  <a:srgbClr val="233141"/>
                </a:solidFill>
                <a:latin typeface="Aptos"/>
              </a:defRPr>
            </a:pPr>
            <a:r>
              <a:t>1 if selected; otherwise 0</a:t>
            </a:r>
          </a:p>
        </p:txBody>
      </p:sp>
      <p:sp>
        <p:nvSpPr>
          <p:cNvPr id="26" name="Rounded Rectangle 25"/>
          <p:cNvSpPr/>
          <p:nvPr/>
        </p:nvSpPr>
        <p:spPr>
          <a:xfrm>
            <a:off x="6720840" y="3657600"/>
            <a:ext cx="4297680" cy="201168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40880" y="3913632"/>
            <a:ext cx="3566160" cy="320040"/>
          </a:xfrm>
          <a:prstGeom prst="rect">
            <a:avLst/>
          </a:prstGeom>
          <a:noFill/>
        </p:spPr>
        <p:txBody>
          <a:bodyPr wrap="square" lIns="54864" tIns="54864" rIns="54864" bIns="54864" anchor="t">
            <a:spAutoFit/>
          </a:bodyPr>
          <a:lstStyle/>
          <a:p>
            <a:pPr algn="l">
              <a:spcAft>
                <a:spcPts val="500"/>
              </a:spcAft>
              <a:defRPr sz="1800" b="1" i="0">
                <a:solidFill>
                  <a:srgbClr val="0F2340"/>
                </a:solidFill>
                <a:latin typeface="Aptos"/>
              </a:defRPr>
            </a:pPr>
            <a:r>
              <a:t>Key rule</a:t>
            </a:r>
          </a:p>
        </p:txBody>
      </p:sp>
      <p:sp>
        <p:nvSpPr>
          <p:cNvPr id="28" name="TextBox 27"/>
          <p:cNvSpPr txBox="1"/>
          <p:nvPr/>
        </p:nvSpPr>
        <p:spPr>
          <a:xfrm>
            <a:off x="7040880" y="4389120"/>
            <a:ext cx="3520440" cy="1005840"/>
          </a:xfrm>
          <a:prstGeom prst="rect">
            <a:avLst/>
          </a:prstGeom>
          <a:noFill/>
        </p:spPr>
        <p:txBody>
          <a:bodyPr wrap="square" lIns="54864" tIns="54864" rIns="54864" bIns="54864" anchor="t">
            <a:spAutoFit/>
          </a:bodyPr>
          <a:lstStyle/>
          <a:p>
            <a:pPr algn="l">
              <a:spcAft>
                <a:spcPts val="500"/>
              </a:spcAft>
              <a:defRPr sz="1600" b="0" i="0">
                <a:solidFill>
                  <a:srgbClr val="233141"/>
                </a:solidFill>
                <a:latin typeface="Aptos"/>
              </a:defRPr>
            </a:pPr>
            <a:r>
              <a:t>Each item is either taken fully (xᵢ = 1) or not taken (xᵢ = 0). No fractions are allowed in 0/1 Knapsack.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502920"/>
          </a:xfrm>
          <a:prstGeom prst="rect">
            <a:avLst/>
          </a:prstGeom>
          <a:noFill/>
        </p:spPr>
        <p:txBody>
          <a:bodyPr wrap="square" lIns="54864" tIns="54864" rIns="54864" bIns="54864" anchor="t">
            <a:spAutoFit/>
          </a:bodyPr>
          <a:lstStyle/>
          <a:p>
            <a:pPr algn="l">
              <a:spcAft>
                <a:spcPts val="500"/>
              </a:spcAft>
              <a:defRPr sz="2700" b="1" i="0">
                <a:solidFill>
                  <a:srgbClr val="0F2340"/>
                </a:solidFill>
                <a:latin typeface="Aptos"/>
              </a:defRPr>
            </a:pPr>
            <a:r>
              <a:t>3. Types of Knapsack Problem</a:t>
            </a:r>
          </a:p>
        </p:txBody>
      </p:sp>
      <p:sp>
        <p:nvSpPr>
          <p:cNvPr id="3" name="Rectangle 2"/>
          <p:cNvSpPr/>
          <p:nvPr/>
        </p:nvSpPr>
        <p:spPr>
          <a:xfrm>
            <a:off x="530352" y="896112"/>
            <a:ext cx="914400" cy="50292"/>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509760" y="347472"/>
            <a:ext cx="2057400" cy="256032"/>
          </a:xfrm>
          <a:prstGeom prst="rect">
            <a:avLst/>
          </a:prstGeom>
          <a:noFill/>
        </p:spPr>
        <p:txBody>
          <a:bodyPr wrap="square" lIns="54864" tIns="54864" rIns="54864" bIns="54864" anchor="t">
            <a:spAutoFit/>
          </a:bodyPr>
          <a:lstStyle/>
          <a:p>
            <a:pPr algn="r">
              <a:spcAft>
                <a:spcPts val="500"/>
              </a:spcAft>
              <a:defRPr sz="900" b="1" i="0">
                <a:solidFill>
                  <a:srgbClr val="00B1A9"/>
                </a:solidFill>
                <a:latin typeface="Aptos"/>
              </a:defRPr>
            </a:pPr>
            <a:r>
              <a:t>CLASSIFY</a:t>
            </a:r>
          </a:p>
        </p:txBody>
      </p:sp>
      <p:sp>
        <p:nvSpPr>
          <p:cNvPr id="5" name="TextBox 4"/>
          <p:cNvSpPr txBox="1"/>
          <p:nvPr/>
        </p:nvSpPr>
        <p:spPr>
          <a:xfrm>
            <a:off x="10789920" y="6528816"/>
            <a:ext cx="914400" cy="164592"/>
          </a:xfrm>
          <a:prstGeom prst="rect">
            <a:avLst/>
          </a:prstGeom>
          <a:noFill/>
        </p:spPr>
        <p:txBody>
          <a:bodyPr wrap="square" lIns="54864" tIns="54864" rIns="54864" bIns="54864" anchor="t">
            <a:spAutoFit/>
          </a:bodyPr>
          <a:lstStyle/>
          <a:p>
            <a:pPr algn="r">
              <a:spcAft>
                <a:spcPts val="500"/>
              </a:spcAft>
              <a:defRPr sz="800" b="0" i="0">
                <a:solidFill>
                  <a:srgbClr val="5E7082"/>
                </a:solidFill>
                <a:latin typeface="Aptos"/>
              </a:defRPr>
            </a:pPr>
            <a:r>
              <a:t>04  /  14</a:t>
            </a:r>
          </a:p>
        </p:txBody>
      </p:sp>
      <p:graphicFrame>
        <p:nvGraphicFramePr>
          <p:cNvPr id="6" name="Table 5"/>
          <p:cNvGraphicFramePr>
            <a:graphicFrameLocks noGrp="1"/>
          </p:cNvGraphicFramePr>
          <p:nvPr/>
        </p:nvGraphicFramePr>
        <p:xfrm>
          <a:off x="594360" y="1417320"/>
          <a:ext cx="10972800" cy="24231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4023360">
                  <a:extLst>
                    <a:ext uri="{9D8B030D-6E8A-4147-A177-3AD203B41FA5}">
                      <a16:colId xmlns:a16="http://schemas.microsoft.com/office/drawing/2014/main" val="20003"/>
                    </a:ext>
                  </a:extLst>
                </a:gridCol>
              </a:tblGrid>
              <a:tr h="605790">
                <a:tc>
                  <a:txBody>
                    <a:bodyPr/>
                    <a:lstStyle/>
                    <a:p>
                      <a:pPr algn="ctr">
                        <a:defRPr sz="1200" b="1">
                          <a:solidFill>
                            <a:srgbClr val="FFFFFF"/>
                          </a:solidFill>
                          <a:latin typeface="Aptos"/>
                        </a:defRPr>
                      </a:pPr>
                      <a:r>
                        <a:t>Type</a:t>
                      </a:r>
                    </a:p>
                  </a:txBody>
                  <a:tcPr marR="73152">
                    <a:solidFill>
                      <a:srgbClr val="0F2340"/>
                    </a:solidFill>
                  </a:tcPr>
                </a:tc>
                <a:tc>
                  <a:txBody>
                    <a:bodyPr/>
                    <a:lstStyle/>
                    <a:p>
                      <a:pPr algn="ctr">
                        <a:defRPr sz="1200" b="1">
                          <a:solidFill>
                            <a:srgbClr val="FFFFFF"/>
                          </a:solidFill>
                          <a:latin typeface="Aptos"/>
                        </a:defRPr>
                      </a:pPr>
                      <a:r>
                        <a:t>Can take a fraction?</a:t>
                      </a:r>
                    </a:p>
                  </a:txBody>
                  <a:tcPr marR="73152">
                    <a:solidFill>
                      <a:srgbClr val="0F2340"/>
                    </a:solidFill>
                  </a:tcPr>
                </a:tc>
                <a:tc>
                  <a:txBody>
                    <a:bodyPr/>
                    <a:lstStyle/>
                    <a:p>
                      <a:pPr algn="ctr">
                        <a:defRPr sz="1200" b="1">
                          <a:solidFill>
                            <a:srgbClr val="FFFFFF"/>
                          </a:solidFill>
                          <a:latin typeface="Aptos"/>
                        </a:defRPr>
                      </a:pPr>
                      <a:r>
                        <a:t>Can reuse an item?</a:t>
                      </a:r>
                    </a:p>
                  </a:txBody>
                  <a:tcPr marR="73152">
                    <a:solidFill>
                      <a:srgbClr val="0F2340"/>
                    </a:solidFill>
                  </a:tcPr>
                </a:tc>
                <a:tc>
                  <a:txBody>
                    <a:bodyPr/>
                    <a:lstStyle/>
                    <a:p>
                      <a:pPr algn="ctr">
                        <a:defRPr sz="1200" b="1">
                          <a:solidFill>
                            <a:srgbClr val="FFFFFF"/>
                          </a:solidFill>
                          <a:latin typeface="Aptos"/>
                        </a:defRPr>
                      </a:pPr>
                      <a:r>
                        <a:t>Typical approach</a:t>
                      </a:r>
                    </a:p>
                  </a:txBody>
                  <a:tcPr marR="73152">
                    <a:solidFill>
                      <a:srgbClr val="0F2340"/>
                    </a:solidFill>
                  </a:tcPr>
                </a:tc>
                <a:extLst>
                  <a:ext uri="{0D108BD9-81ED-4DB2-BD59-A6C34878D82A}">
                    <a16:rowId xmlns:a16="http://schemas.microsoft.com/office/drawing/2014/main" val="10000"/>
                  </a:ext>
                </a:extLst>
              </a:tr>
              <a:tr h="605790">
                <a:tc>
                  <a:txBody>
                    <a:bodyPr/>
                    <a:lstStyle/>
                    <a:p>
                      <a:pPr algn="ctr">
                        <a:defRPr sz="1300" b="1">
                          <a:solidFill>
                            <a:srgbClr val="233141"/>
                          </a:solidFill>
                          <a:latin typeface="Aptos"/>
                        </a:defRPr>
                      </a:pPr>
                      <a:r>
                        <a:t>0/1 Knapsack</a:t>
                      </a:r>
                    </a:p>
                  </a:txBody>
                  <a:tcPr marR="73152">
                    <a:solidFill>
                      <a:srgbClr val="FFFFFF"/>
                    </a:solidFill>
                  </a:tcPr>
                </a:tc>
                <a:tc>
                  <a:txBody>
                    <a:bodyPr/>
                    <a:lstStyle/>
                    <a:p>
                      <a:pPr algn="ctr">
                        <a:defRPr sz="1300" b="0">
                          <a:solidFill>
                            <a:srgbClr val="233141"/>
                          </a:solidFill>
                          <a:latin typeface="Aptos"/>
                        </a:defRPr>
                      </a:pPr>
                      <a:r>
                        <a:t>No</a:t>
                      </a:r>
                    </a:p>
                  </a:txBody>
                  <a:tcPr marR="73152">
                    <a:solidFill>
                      <a:srgbClr val="FFFFFF"/>
                    </a:solidFill>
                  </a:tcPr>
                </a:tc>
                <a:tc>
                  <a:txBody>
                    <a:bodyPr/>
                    <a:lstStyle/>
                    <a:p>
                      <a:pPr algn="ctr">
                        <a:defRPr sz="1300" b="0">
                          <a:solidFill>
                            <a:srgbClr val="233141"/>
                          </a:solidFill>
                          <a:latin typeface="Aptos"/>
                        </a:defRPr>
                      </a:pPr>
                      <a:r>
                        <a:t>No</a:t>
                      </a:r>
                    </a:p>
                  </a:txBody>
                  <a:tcPr marR="73152">
                    <a:solidFill>
                      <a:srgbClr val="FFFFFF"/>
                    </a:solidFill>
                  </a:tcPr>
                </a:tc>
                <a:tc>
                  <a:txBody>
                    <a:bodyPr/>
                    <a:lstStyle/>
                    <a:p>
                      <a:pPr algn="ctr">
                        <a:defRPr sz="1300" b="0">
                          <a:solidFill>
                            <a:srgbClr val="233141"/>
                          </a:solidFill>
                          <a:latin typeface="Aptos"/>
                        </a:defRPr>
                      </a:pPr>
                      <a:r>
                        <a:t>Dynamic programming</a:t>
                      </a:r>
                    </a:p>
                  </a:txBody>
                  <a:tcPr marR="73152">
                    <a:solidFill>
                      <a:srgbClr val="FFFFFF"/>
                    </a:solidFill>
                  </a:tcPr>
                </a:tc>
                <a:extLst>
                  <a:ext uri="{0D108BD9-81ED-4DB2-BD59-A6C34878D82A}">
                    <a16:rowId xmlns:a16="http://schemas.microsoft.com/office/drawing/2014/main" val="10001"/>
                  </a:ext>
                </a:extLst>
              </a:tr>
              <a:tr h="605790">
                <a:tc>
                  <a:txBody>
                    <a:bodyPr/>
                    <a:lstStyle/>
                    <a:p>
                      <a:pPr algn="ctr">
                        <a:defRPr sz="1300" b="1">
                          <a:solidFill>
                            <a:srgbClr val="233141"/>
                          </a:solidFill>
                          <a:latin typeface="Aptos"/>
                        </a:defRPr>
                      </a:pPr>
                      <a:r>
                        <a:t>Fractional Knapsack</a:t>
                      </a:r>
                    </a:p>
                  </a:txBody>
                  <a:tcPr marR="73152">
                    <a:solidFill>
                      <a:srgbClr val="EDF4F8"/>
                    </a:solidFill>
                  </a:tcPr>
                </a:tc>
                <a:tc>
                  <a:txBody>
                    <a:bodyPr/>
                    <a:lstStyle/>
                    <a:p>
                      <a:pPr algn="ctr">
                        <a:defRPr sz="1300" b="0">
                          <a:solidFill>
                            <a:srgbClr val="233141"/>
                          </a:solidFill>
                          <a:latin typeface="Aptos"/>
                        </a:defRPr>
                      </a:pPr>
                      <a:r>
                        <a:t>Yes</a:t>
                      </a:r>
                    </a:p>
                  </a:txBody>
                  <a:tcPr marR="73152">
                    <a:solidFill>
                      <a:srgbClr val="EDF4F8"/>
                    </a:solidFill>
                  </a:tcPr>
                </a:tc>
                <a:tc>
                  <a:txBody>
                    <a:bodyPr/>
                    <a:lstStyle/>
                    <a:p>
                      <a:pPr algn="ctr">
                        <a:defRPr sz="1300" b="0">
                          <a:solidFill>
                            <a:srgbClr val="233141"/>
                          </a:solidFill>
                          <a:latin typeface="Aptos"/>
                        </a:defRPr>
                      </a:pPr>
                      <a:r>
                        <a:t>No (each item once)</a:t>
                      </a:r>
                    </a:p>
                  </a:txBody>
                  <a:tcPr marR="73152">
                    <a:solidFill>
                      <a:srgbClr val="EDF4F8"/>
                    </a:solidFill>
                  </a:tcPr>
                </a:tc>
                <a:tc>
                  <a:txBody>
                    <a:bodyPr/>
                    <a:lstStyle/>
                    <a:p>
                      <a:pPr algn="ctr">
                        <a:defRPr sz="1300" b="0">
                          <a:solidFill>
                            <a:srgbClr val="233141"/>
                          </a:solidFill>
                          <a:latin typeface="Aptos"/>
                        </a:defRPr>
                      </a:pPr>
                      <a:r>
                        <a:t>Greedy by pᵢ / wᵢ</a:t>
                      </a:r>
                    </a:p>
                  </a:txBody>
                  <a:tcPr marR="73152">
                    <a:solidFill>
                      <a:srgbClr val="EDF4F8"/>
                    </a:solidFill>
                  </a:tcPr>
                </a:tc>
                <a:extLst>
                  <a:ext uri="{0D108BD9-81ED-4DB2-BD59-A6C34878D82A}">
                    <a16:rowId xmlns:a16="http://schemas.microsoft.com/office/drawing/2014/main" val="10002"/>
                  </a:ext>
                </a:extLst>
              </a:tr>
              <a:tr h="605790">
                <a:tc>
                  <a:txBody>
                    <a:bodyPr/>
                    <a:lstStyle/>
                    <a:p>
                      <a:pPr algn="ctr">
                        <a:defRPr sz="1300" b="1">
                          <a:solidFill>
                            <a:srgbClr val="233141"/>
                          </a:solidFill>
                          <a:latin typeface="Aptos"/>
                        </a:defRPr>
                      </a:pPr>
                      <a:r>
                        <a:t>Unbounded Knapsack</a:t>
                      </a:r>
                    </a:p>
                  </a:txBody>
                  <a:tcPr marR="73152">
                    <a:solidFill>
                      <a:srgbClr val="FFFFFF"/>
                    </a:solidFill>
                  </a:tcPr>
                </a:tc>
                <a:tc>
                  <a:txBody>
                    <a:bodyPr/>
                    <a:lstStyle/>
                    <a:p>
                      <a:pPr algn="ctr">
                        <a:defRPr sz="1300" b="0">
                          <a:solidFill>
                            <a:srgbClr val="233141"/>
                          </a:solidFill>
                          <a:latin typeface="Aptos"/>
                        </a:defRPr>
                      </a:pPr>
                      <a:r>
                        <a:t>Usually whole units</a:t>
                      </a:r>
                    </a:p>
                  </a:txBody>
                  <a:tcPr marR="73152">
                    <a:solidFill>
                      <a:srgbClr val="FFFFFF"/>
                    </a:solidFill>
                  </a:tcPr>
                </a:tc>
                <a:tc>
                  <a:txBody>
                    <a:bodyPr/>
                    <a:lstStyle/>
                    <a:p>
                      <a:pPr algn="ctr">
                        <a:defRPr sz="1300" b="0">
                          <a:solidFill>
                            <a:srgbClr val="233141"/>
                          </a:solidFill>
                          <a:latin typeface="Aptos"/>
                        </a:defRPr>
                      </a:pPr>
                      <a:r>
                        <a:t>Yes, unlimited</a:t>
                      </a:r>
                    </a:p>
                  </a:txBody>
                  <a:tcPr marR="73152">
                    <a:solidFill>
                      <a:srgbClr val="FFFFFF"/>
                    </a:solidFill>
                  </a:tcPr>
                </a:tc>
                <a:tc>
                  <a:txBody>
                    <a:bodyPr/>
                    <a:lstStyle/>
                    <a:p>
                      <a:pPr algn="ctr">
                        <a:defRPr sz="1300" b="0">
                          <a:solidFill>
                            <a:srgbClr val="233141"/>
                          </a:solidFill>
                          <a:latin typeface="Aptos"/>
                        </a:defRPr>
                      </a:pPr>
                      <a:r>
                        <a:t>DP / other methods</a:t>
                      </a:r>
                    </a:p>
                  </a:txBody>
                  <a:tcPr marR="73152">
                    <a:solidFill>
                      <a:srgbClr val="FFFFF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731520" y="4206240"/>
            <a:ext cx="3429000" cy="141732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4206240"/>
            <a:ext cx="73152" cy="1417320"/>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4370831"/>
            <a:ext cx="3044952" cy="329184"/>
          </a:xfrm>
          <a:prstGeom prst="rect">
            <a:avLst/>
          </a:prstGeom>
          <a:noFill/>
        </p:spPr>
        <p:txBody>
          <a:bodyPr wrap="square" lIns="54864" tIns="54864" rIns="54864" bIns="54864" anchor="t">
            <a:spAutoFit/>
          </a:bodyPr>
          <a:lstStyle/>
          <a:p>
            <a:pPr algn="l">
              <a:spcAft>
                <a:spcPts val="500"/>
              </a:spcAft>
              <a:defRPr sz="1700" b="1" i="0">
                <a:solidFill>
                  <a:srgbClr val="0F2340"/>
                </a:solidFill>
                <a:latin typeface="Aptos"/>
              </a:defRPr>
            </a:pPr>
            <a:r>
              <a:t>0/1</a:t>
            </a:r>
          </a:p>
        </p:txBody>
      </p:sp>
      <p:sp>
        <p:nvSpPr>
          <p:cNvPr id="10" name="TextBox 9"/>
          <p:cNvSpPr txBox="1"/>
          <p:nvPr/>
        </p:nvSpPr>
        <p:spPr>
          <a:xfrm>
            <a:off x="932688" y="4791455"/>
            <a:ext cx="3044952" cy="704088"/>
          </a:xfrm>
          <a:prstGeom prst="rect">
            <a:avLst/>
          </a:prstGeom>
          <a:noFill/>
        </p:spPr>
        <p:txBody>
          <a:bodyPr wrap="square" lIns="54864" tIns="54864" rIns="54864" bIns="54864" anchor="t">
            <a:spAutoFit/>
          </a:bodyPr>
          <a:lstStyle/>
          <a:p>
            <a:pPr algn="l">
              <a:spcAft>
                <a:spcPts val="500"/>
              </a:spcAft>
              <a:defRPr sz="1500" b="0" i="0">
                <a:solidFill>
                  <a:srgbClr val="233141"/>
                </a:solidFill>
                <a:latin typeface="Aptos"/>
              </a:defRPr>
            </a:pPr>
            <a:r>
              <a:t>Take it or leave it.</a:t>
            </a:r>
          </a:p>
        </p:txBody>
      </p:sp>
      <p:sp>
        <p:nvSpPr>
          <p:cNvPr id="11" name="Rounded Rectangle 10"/>
          <p:cNvSpPr/>
          <p:nvPr/>
        </p:nvSpPr>
        <p:spPr>
          <a:xfrm>
            <a:off x="4389120" y="4206240"/>
            <a:ext cx="3429000" cy="141732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4206240"/>
            <a:ext cx="73152" cy="1417320"/>
          </a:xfrm>
          <a:prstGeom prst="rect">
            <a:avLst/>
          </a:prstGeom>
          <a:solidFill>
            <a:srgbClr val="FFBE4B"/>
          </a:solidFill>
          <a:ln>
            <a:solidFill>
              <a:srgbClr val="FFBE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0288" y="4370831"/>
            <a:ext cx="3044952" cy="329184"/>
          </a:xfrm>
          <a:prstGeom prst="rect">
            <a:avLst/>
          </a:prstGeom>
          <a:noFill/>
        </p:spPr>
        <p:txBody>
          <a:bodyPr wrap="square" lIns="54864" tIns="54864" rIns="54864" bIns="54864" anchor="t">
            <a:spAutoFit/>
          </a:bodyPr>
          <a:lstStyle/>
          <a:p>
            <a:pPr algn="l">
              <a:spcAft>
                <a:spcPts val="500"/>
              </a:spcAft>
              <a:defRPr sz="1700" b="1" i="0">
                <a:solidFill>
                  <a:srgbClr val="0F2340"/>
                </a:solidFill>
                <a:latin typeface="Aptos"/>
              </a:defRPr>
            </a:pPr>
            <a:r>
              <a:t>Fractional</a:t>
            </a:r>
          </a:p>
        </p:txBody>
      </p:sp>
      <p:sp>
        <p:nvSpPr>
          <p:cNvPr id="14" name="TextBox 13"/>
          <p:cNvSpPr txBox="1"/>
          <p:nvPr/>
        </p:nvSpPr>
        <p:spPr>
          <a:xfrm>
            <a:off x="4590288" y="4791455"/>
            <a:ext cx="3044952" cy="704088"/>
          </a:xfrm>
          <a:prstGeom prst="rect">
            <a:avLst/>
          </a:prstGeom>
          <a:noFill/>
        </p:spPr>
        <p:txBody>
          <a:bodyPr wrap="square" lIns="54864" tIns="54864" rIns="54864" bIns="54864" anchor="t">
            <a:spAutoFit/>
          </a:bodyPr>
          <a:lstStyle/>
          <a:p>
            <a:pPr algn="l">
              <a:spcAft>
                <a:spcPts val="500"/>
              </a:spcAft>
              <a:defRPr sz="1500" b="0" i="0">
                <a:solidFill>
                  <a:srgbClr val="233141"/>
                </a:solidFill>
                <a:latin typeface="Aptos"/>
              </a:defRPr>
            </a:pPr>
            <a:r>
              <a:t>Take part of an item, if needed.</a:t>
            </a:r>
          </a:p>
        </p:txBody>
      </p:sp>
      <p:sp>
        <p:nvSpPr>
          <p:cNvPr id="15" name="Rounded Rectangle 14"/>
          <p:cNvSpPr/>
          <p:nvPr/>
        </p:nvSpPr>
        <p:spPr>
          <a:xfrm>
            <a:off x="8046720" y="4206240"/>
            <a:ext cx="3429000" cy="141732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4206240"/>
            <a:ext cx="73152" cy="1417320"/>
          </a:xfrm>
          <a:prstGeom prst="rect">
            <a:avLst/>
          </a:prstGeom>
          <a:solidFill>
            <a:srgbClr val="269170"/>
          </a:solidFill>
          <a:ln>
            <a:solidFill>
              <a:srgbClr val="2691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4370831"/>
            <a:ext cx="3044952" cy="329184"/>
          </a:xfrm>
          <a:prstGeom prst="rect">
            <a:avLst/>
          </a:prstGeom>
          <a:noFill/>
        </p:spPr>
        <p:txBody>
          <a:bodyPr wrap="square" lIns="54864" tIns="54864" rIns="54864" bIns="54864" anchor="t">
            <a:spAutoFit/>
          </a:bodyPr>
          <a:lstStyle/>
          <a:p>
            <a:pPr algn="l">
              <a:spcAft>
                <a:spcPts val="500"/>
              </a:spcAft>
              <a:defRPr sz="1700" b="1" i="0">
                <a:solidFill>
                  <a:srgbClr val="0F2340"/>
                </a:solidFill>
                <a:latin typeface="Aptos"/>
              </a:defRPr>
            </a:pPr>
            <a:r>
              <a:t>Unbounded</a:t>
            </a:r>
          </a:p>
        </p:txBody>
      </p:sp>
      <p:sp>
        <p:nvSpPr>
          <p:cNvPr id="18" name="TextBox 17"/>
          <p:cNvSpPr txBox="1"/>
          <p:nvPr/>
        </p:nvSpPr>
        <p:spPr>
          <a:xfrm>
            <a:off x="8247888" y="4791455"/>
            <a:ext cx="3044952" cy="704088"/>
          </a:xfrm>
          <a:prstGeom prst="rect">
            <a:avLst/>
          </a:prstGeom>
          <a:noFill/>
        </p:spPr>
        <p:txBody>
          <a:bodyPr wrap="square" lIns="54864" tIns="54864" rIns="54864" bIns="54864" anchor="t">
            <a:spAutoFit/>
          </a:bodyPr>
          <a:lstStyle/>
          <a:p>
            <a:pPr algn="l">
              <a:spcAft>
                <a:spcPts val="500"/>
              </a:spcAft>
              <a:defRPr sz="1500" b="0" i="0">
                <a:solidFill>
                  <a:srgbClr val="233141"/>
                </a:solidFill>
                <a:latin typeface="Aptos"/>
              </a:defRPr>
            </a:pPr>
            <a:r>
              <a:t>Use the same item repeatedly.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502920"/>
          </a:xfrm>
          <a:prstGeom prst="rect">
            <a:avLst/>
          </a:prstGeom>
          <a:noFill/>
        </p:spPr>
        <p:txBody>
          <a:bodyPr wrap="square" lIns="54864" tIns="54864" rIns="54864" bIns="54864" anchor="t">
            <a:spAutoFit/>
          </a:bodyPr>
          <a:lstStyle/>
          <a:p>
            <a:pPr algn="l">
              <a:spcAft>
                <a:spcPts val="500"/>
              </a:spcAft>
              <a:defRPr sz="2700" b="1" i="0">
                <a:solidFill>
                  <a:srgbClr val="0F2340"/>
                </a:solidFill>
                <a:latin typeface="Aptos"/>
              </a:defRPr>
            </a:pPr>
            <a:r>
              <a:t>4. 0/1 Knapsack with Dynamic Programming</a:t>
            </a:r>
          </a:p>
        </p:txBody>
      </p:sp>
      <p:sp>
        <p:nvSpPr>
          <p:cNvPr id="3" name="Rectangle 2"/>
          <p:cNvSpPr/>
          <p:nvPr/>
        </p:nvSpPr>
        <p:spPr>
          <a:xfrm>
            <a:off x="530352" y="896112"/>
            <a:ext cx="914400" cy="50292"/>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509760" y="347472"/>
            <a:ext cx="2057400" cy="256032"/>
          </a:xfrm>
          <a:prstGeom prst="rect">
            <a:avLst/>
          </a:prstGeom>
          <a:noFill/>
        </p:spPr>
        <p:txBody>
          <a:bodyPr wrap="square" lIns="54864" tIns="54864" rIns="54864" bIns="54864" anchor="t">
            <a:spAutoFit/>
          </a:bodyPr>
          <a:lstStyle/>
          <a:p>
            <a:pPr algn="r">
              <a:spcAft>
                <a:spcPts val="500"/>
              </a:spcAft>
              <a:defRPr sz="900" b="1" i="0">
                <a:solidFill>
                  <a:srgbClr val="00B1A9"/>
                </a:solidFill>
                <a:latin typeface="Aptos"/>
              </a:defRPr>
            </a:pPr>
            <a:r>
              <a:t>DP CONCEPT</a:t>
            </a:r>
          </a:p>
        </p:txBody>
      </p:sp>
      <p:sp>
        <p:nvSpPr>
          <p:cNvPr id="5" name="TextBox 4"/>
          <p:cNvSpPr txBox="1"/>
          <p:nvPr/>
        </p:nvSpPr>
        <p:spPr>
          <a:xfrm>
            <a:off x="10789920" y="6528816"/>
            <a:ext cx="914400" cy="164592"/>
          </a:xfrm>
          <a:prstGeom prst="rect">
            <a:avLst/>
          </a:prstGeom>
          <a:noFill/>
        </p:spPr>
        <p:txBody>
          <a:bodyPr wrap="square" lIns="54864" tIns="54864" rIns="54864" bIns="54864" anchor="t">
            <a:spAutoFit/>
          </a:bodyPr>
          <a:lstStyle/>
          <a:p>
            <a:pPr algn="r">
              <a:spcAft>
                <a:spcPts val="500"/>
              </a:spcAft>
              <a:defRPr sz="800" b="0" i="0">
                <a:solidFill>
                  <a:srgbClr val="5E7082"/>
                </a:solidFill>
                <a:latin typeface="Aptos"/>
              </a:defRPr>
            </a:pPr>
            <a:r>
              <a:t>05  /  14</a:t>
            </a:r>
          </a:p>
        </p:txBody>
      </p:sp>
      <p:sp>
        <p:nvSpPr>
          <p:cNvPr id="6" name="Rounded Rectangle 5"/>
          <p:cNvSpPr/>
          <p:nvPr/>
        </p:nvSpPr>
        <p:spPr>
          <a:xfrm>
            <a:off x="640080" y="1234440"/>
            <a:ext cx="3429000" cy="141732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234440"/>
            <a:ext cx="73152" cy="1417320"/>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399032"/>
            <a:ext cx="3044952" cy="329184"/>
          </a:xfrm>
          <a:prstGeom prst="rect">
            <a:avLst/>
          </a:prstGeom>
          <a:noFill/>
        </p:spPr>
        <p:txBody>
          <a:bodyPr wrap="square" lIns="54864" tIns="54864" rIns="54864" bIns="54864" anchor="t">
            <a:spAutoFit/>
          </a:bodyPr>
          <a:lstStyle/>
          <a:p>
            <a:pPr algn="l">
              <a:spcAft>
                <a:spcPts val="500"/>
              </a:spcAft>
              <a:defRPr sz="1700" b="1" i="0">
                <a:solidFill>
                  <a:srgbClr val="0F2340"/>
                </a:solidFill>
                <a:latin typeface="Aptos"/>
              </a:defRPr>
            </a:pPr>
            <a:r>
              <a:t>Optimal substructure</a:t>
            </a:r>
          </a:p>
        </p:txBody>
      </p:sp>
      <p:sp>
        <p:nvSpPr>
          <p:cNvPr id="9" name="TextBox 8"/>
          <p:cNvSpPr txBox="1"/>
          <p:nvPr/>
        </p:nvSpPr>
        <p:spPr>
          <a:xfrm>
            <a:off x="841247" y="1819656"/>
            <a:ext cx="3044952" cy="704088"/>
          </a:xfrm>
          <a:prstGeom prst="rect">
            <a:avLst/>
          </a:prstGeom>
          <a:noFill/>
        </p:spPr>
        <p:txBody>
          <a:bodyPr wrap="square" lIns="54864" tIns="54864" rIns="54864" bIns="54864" anchor="t">
            <a:spAutoFit/>
          </a:bodyPr>
          <a:lstStyle/>
          <a:p>
            <a:pPr algn="l">
              <a:spcAft>
                <a:spcPts val="500"/>
              </a:spcAft>
              <a:defRPr sz="1600" b="0" i="0">
                <a:solidFill>
                  <a:srgbClr val="233141"/>
                </a:solidFill>
                <a:latin typeface="Aptos"/>
              </a:defRPr>
            </a:pPr>
            <a:r>
              <a:t>An optimal solution can be built from optimal solutions to smaller capacities and fewer items.</a:t>
            </a:r>
          </a:p>
        </p:txBody>
      </p:sp>
      <p:sp>
        <p:nvSpPr>
          <p:cNvPr id="10" name="Rounded Rectangle 9"/>
          <p:cNvSpPr/>
          <p:nvPr/>
        </p:nvSpPr>
        <p:spPr>
          <a:xfrm>
            <a:off x="640080" y="2880360"/>
            <a:ext cx="3429000" cy="141732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2880360"/>
            <a:ext cx="73152" cy="1417320"/>
          </a:xfrm>
          <a:prstGeom prst="rect">
            <a:avLst/>
          </a:prstGeom>
          <a:solidFill>
            <a:srgbClr val="FFBE4B"/>
          </a:solidFill>
          <a:ln>
            <a:solidFill>
              <a:srgbClr val="FFBE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7" y="3044952"/>
            <a:ext cx="3044952" cy="329184"/>
          </a:xfrm>
          <a:prstGeom prst="rect">
            <a:avLst/>
          </a:prstGeom>
          <a:noFill/>
        </p:spPr>
        <p:txBody>
          <a:bodyPr wrap="square" lIns="54864" tIns="54864" rIns="54864" bIns="54864" anchor="t">
            <a:spAutoFit/>
          </a:bodyPr>
          <a:lstStyle/>
          <a:p>
            <a:pPr algn="l">
              <a:spcAft>
                <a:spcPts val="500"/>
              </a:spcAft>
              <a:defRPr sz="1700" b="1" i="0">
                <a:solidFill>
                  <a:srgbClr val="0F2340"/>
                </a:solidFill>
                <a:latin typeface="Aptos"/>
              </a:defRPr>
            </a:pPr>
            <a:r>
              <a:t>Overlapping subproblems</a:t>
            </a:r>
          </a:p>
        </p:txBody>
      </p:sp>
      <p:sp>
        <p:nvSpPr>
          <p:cNvPr id="13" name="TextBox 12"/>
          <p:cNvSpPr txBox="1"/>
          <p:nvPr/>
        </p:nvSpPr>
        <p:spPr>
          <a:xfrm>
            <a:off x="841247" y="3465576"/>
            <a:ext cx="3044952" cy="704088"/>
          </a:xfrm>
          <a:prstGeom prst="rect">
            <a:avLst/>
          </a:prstGeom>
          <a:noFill/>
        </p:spPr>
        <p:txBody>
          <a:bodyPr wrap="square" lIns="54864" tIns="54864" rIns="54864" bIns="54864" anchor="t">
            <a:spAutoFit/>
          </a:bodyPr>
          <a:lstStyle/>
          <a:p>
            <a:pPr algn="l">
              <a:spcAft>
                <a:spcPts val="500"/>
              </a:spcAft>
              <a:defRPr sz="1600" b="0" i="0">
                <a:solidFill>
                  <a:srgbClr val="233141"/>
                </a:solidFill>
                <a:latin typeface="Aptos"/>
              </a:defRPr>
            </a:pPr>
            <a:r>
              <a:t>The same item/capacity combinations recur; DP stores answers instead of recomputing them.</a:t>
            </a:r>
          </a:p>
        </p:txBody>
      </p:sp>
      <p:sp>
        <p:nvSpPr>
          <p:cNvPr id="14" name="TextBox 13"/>
          <p:cNvSpPr txBox="1"/>
          <p:nvPr/>
        </p:nvSpPr>
        <p:spPr>
          <a:xfrm>
            <a:off x="4526280" y="1325880"/>
            <a:ext cx="1828800" cy="274320"/>
          </a:xfrm>
          <a:prstGeom prst="rect">
            <a:avLst/>
          </a:prstGeom>
          <a:noFill/>
        </p:spPr>
        <p:txBody>
          <a:bodyPr wrap="square" lIns="54864" tIns="54864" rIns="54864" bIns="54864" anchor="t">
            <a:spAutoFit/>
          </a:bodyPr>
          <a:lstStyle/>
          <a:p>
            <a:pPr algn="l">
              <a:spcAft>
                <a:spcPts val="500"/>
              </a:spcAft>
              <a:defRPr sz="1200" b="1" i="0">
                <a:solidFill>
                  <a:srgbClr val="00B1A9"/>
                </a:solidFill>
                <a:latin typeface="Aptos"/>
              </a:defRPr>
            </a:pPr>
            <a:r>
              <a:t>RECURRENCE</a:t>
            </a:r>
          </a:p>
        </p:txBody>
      </p:sp>
      <p:sp>
        <p:nvSpPr>
          <p:cNvPr id="15" name="Rounded Rectangle 14"/>
          <p:cNvSpPr/>
          <p:nvPr/>
        </p:nvSpPr>
        <p:spPr>
          <a:xfrm>
            <a:off x="4434840" y="1691640"/>
            <a:ext cx="7132320" cy="1188720"/>
          </a:xfrm>
          <a:prstGeom prst="roundRect">
            <a:avLst/>
          </a:prstGeom>
          <a:solidFill>
            <a:srgbClr val="0F2340"/>
          </a:solidFill>
          <a:ln>
            <a:solidFill>
              <a:srgbClr val="0F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81728" y="1901952"/>
            <a:ext cx="6629400" cy="685800"/>
          </a:xfrm>
          <a:prstGeom prst="rect">
            <a:avLst/>
          </a:prstGeom>
          <a:noFill/>
        </p:spPr>
        <p:txBody>
          <a:bodyPr wrap="square" lIns="54864" tIns="54864" rIns="54864" bIns="54864" anchor="t">
            <a:spAutoFit/>
          </a:bodyPr>
          <a:lstStyle/>
          <a:p>
            <a:pPr algn="l">
              <a:spcAft>
                <a:spcPts val="500"/>
              </a:spcAft>
              <a:defRPr sz="1700" b="1" i="0">
                <a:solidFill>
                  <a:srgbClr val="FFFFFF"/>
                </a:solidFill>
                <a:latin typeface="Aptos"/>
              </a:defRPr>
            </a:pPr>
            <a:r>
              <a:t>If wᵢ ≤ c:  DP[i][c] = max(DP[i−1][c], pᵢ + DP[i−1][c−wᵢ])</a:t>
            </a:r>
          </a:p>
          <a:p>
            <a:pPr algn="l">
              <a:spcAft>
                <a:spcPts val="500"/>
              </a:spcAft>
              <a:defRPr sz="1700" b="1" i="0">
                <a:solidFill>
                  <a:srgbClr val="FFFFFF"/>
                </a:solidFill>
                <a:latin typeface="Aptos"/>
              </a:defRPr>
            </a:pPr>
            <a:r>
              <a:t>Otherwise:  DP[i][c] = DP[i−1][c]</a:t>
            </a:r>
          </a:p>
        </p:txBody>
      </p:sp>
      <p:sp>
        <p:nvSpPr>
          <p:cNvPr id="17" name="TextBox 16"/>
          <p:cNvSpPr txBox="1"/>
          <p:nvPr/>
        </p:nvSpPr>
        <p:spPr>
          <a:xfrm>
            <a:off x="4526280" y="3200400"/>
            <a:ext cx="1097280" cy="274320"/>
          </a:xfrm>
          <a:prstGeom prst="rect">
            <a:avLst/>
          </a:prstGeom>
          <a:noFill/>
        </p:spPr>
        <p:txBody>
          <a:bodyPr wrap="square" lIns="54864" tIns="54864" rIns="54864" bIns="54864" anchor="t">
            <a:spAutoFit/>
          </a:bodyPr>
          <a:lstStyle/>
          <a:p>
            <a:pPr algn="l">
              <a:spcAft>
                <a:spcPts val="500"/>
              </a:spcAft>
              <a:defRPr sz="1400" b="1" i="0">
                <a:solidFill>
                  <a:srgbClr val="00B1A9"/>
                </a:solidFill>
                <a:latin typeface="Aptos"/>
              </a:defRPr>
            </a:pPr>
            <a:r>
              <a:t>Meaning</a:t>
            </a:r>
          </a:p>
        </p:txBody>
      </p:sp>
      <p:sp>
        <p:nvSpPr>
          <p:cNvPr id="18" name="TextBox 17"/>
          <p:cNvSpPr txBox="1"/>
          <p:nvPr/>
        </p:nvSpPr>
        <p:spPr>
          <a:xfrm>
            <a:off x="4572000" y="3566160"/>
            <a:ext cx="6766560" cy="1463040"/>
          </a:xfrm>
          <a:prstGeom prst="rect">
            <a:avLst/>
          </a:prstGeom>
          <a:noFill/>
        </p:spPr>
        <p:txBody>
          <a:bodyPr wrap="square" lIns="73152" tIns="54864" rIns="73152" bIns="36576">
            <a:spAutoFit/>
          </a:bodyPr>
          <a:lstStyle/>
          <a:p>
            <a:pPr>
              <a:spcAft>
                <a:spcPts val="800"/>
              </a:spcAft>
              <a:defRPr sz="1600">
                <a:solidFill>
                  <a:srgbClr val="233141"/>
                </a:solidFill>
                <a:latin typeface="Aptos"/>
              </a:defRPr>
            </a:pPr>
            <a:r>
              <a:t>Skip item i → keep DP[i−1][c]</a:t>
            </a:r>
          </a:p>
          <a:p>
            <a:pPr>
              <a:spcAft>
                <a:spcPts val="800"/>
              </a:spcAft>
              <a:defRPr sz="1600">
                <a:solidFill>
                  <a:srgbClr val="233141"/>
                </a:solidFill>
                <a:latin typeface="Aptos"/>
              </a:defRPr>
            </a:pPr>
            <a:r>
              <a:t>Take item i → add pᵢ and use remaining capacity c−wᵢ</a:t>
            </a:r>
          </a:p>
          <a:p>
            <a:pPr>
              <a:spcAft>
                <a:spcPts val="800"/>
              </a:spcAft>
              <a:defRPr sz="1600">
                <a:solidFill>
                  <a:srgbClr val="233141"/>
                </a:solidFill>
                <a:latin typeface="Aptos"/>
              </a:defRPr>
            </a:pPr>
            <a:r>
              <a:t>Store the better of the two choices</a:t>
            </a:r>
          </a:p>
        </p:txBody>
      </p:sp>
      <p:sp>
        <p:nvSpPr>
          <p:cNvPr id="19" name="Rounded Rectangle 18"/>
          <p:cNvSpPr/>
          <p:nvPr/>
        </p:nvSpPr>
        <p:spPr>
          <a:xfrm>
            <a:off x="4800600" y="5349240"/>
            <a:ext cx="960120" cy="566928"/>
          </a:xfrm>
          <a:prstGeom prst="roundRect">
            <a:avLst/>
          </a:prstGeom>
          <a:solidFill>
            <a:srgbClr val="FFBE4B"/>
          </a:solidFill>
          <a:ln>
            <a:solidFill>
              <a:srgbClr val="FFBE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00600" y="5486400"/>
            <a:ext cx="960120" cy="228600"/>
          </a:xfrm>
          <a:prstGeom prst="rect">
            <a:avLst/>
          </a:prstGeom>
          <a:noFill/>
        </p:spPr>
        <p:txBody>
          <a:bodyPr wrap="square" lIns="54864" tIns="54864" rIns="54864" bIns="54864" anchor="t">
            <a:spAutoFit/>
          </a:bodyPr>
          <a:lstStyle/>
          <a:p>
            <a:pPr algn="ctr">
              <a:spcAft>
                <a:spcPts val="500"/>
              </a:spcAft>
              <a:defRPr sz="1500" b="1" i="0">
                <a:solidFill>
                  <a:srgbClr val="0F2340"/>
                </a:solidFill>
                <a:latin typeface="Aptos"/>
              </a:defRPr>
            </a:pPr>
            <a:r>
              <a:t>A</a:t>
            </a:r>
          </a:p>
        </p:txBody>
      </p:sp>
      <p:sp>
        <p:nvSpPr>
          <p:cNvPr id="21" name="Rounded Rectangle 20"/>
          <p:cNvSpPr/>
          <p:nvPr/>
        </p:nvSpPr>
        <p:spPr>
          <a:xfrm>
            <a:off x="6080760" y="5349240"/>
            <a:ext cx="960120" cy="566928"/>
          </a:xfrm>
          <a:prstGeom prst="round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080760" y="5486400"/>
            <a:ext cx="960120" cy="228600"/>
          </a:xfrm>
          <a:prstGeom prst="rect">
            <a:avLst/>
          </a:prstGeom>
          <a:noFill/>
        </p:spPr>
        <p:txBody>
          <a:bodyPr wrap="square" lIns="54864" tIns="54864" rIns="54864" bIns="54864" anchor="t">
            <a:spAutoFit/>
          </a:bodyPr>
          <a:lstStyle/>
          <a:p>
            <a:pPr algn="ctr">
              <a:spcAft>
                <a:spcPts val="500"/>
              </a:spcAft>
              <a:defRPr sz="1500" b="1" i="0">
                <a:solidFill>
                  <a:srgbClr val="0F2340"/>
                </a:solidFill>
                <a:latin typeface="Aptos"/>
              </a:defRPr>
            </a:pPr>
            <a:r>
              <a:t>B</a:t>
            </a:r>
          </a:p>
        </p:txBody>
      </p:sp>
      <p:sp>
        <p:nvSpPr>
          <p:cNvPr id="23" name="Rounded Rectangle 22"/>
          <p:cNvSpPr/>
          <p:nvPr/>
        </p:nvSpPr>
        <p:spPr>
          <a:xfrm>
            <a:off x="7360920" y="5349240"/>
            <a:ext cx="960120" cy="566928"/>
          </a:xfrm>
          <a:prstGeom prst="roundRect">
            <a:avLst/>
          </a:prstGeom>
          <a:solidFill>
            <a:srgbClr val="E2574C"/>
          </a:solidFill>
          <a:ln>
            <a:solidFill>
              <a:srgbClr val="E25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60920" y="5486400"/>
            <a:ext cx="960120" cy="228600"/>
          </a:xfrm>
          <a:prstGeom prst="rect">
            <a:avLst/>
          </a:prstGeom>
          <a:noFill/>
        </p:spPr>
        <p:txBody>
          <a:bodyPr wrap="square" lIns="54864" tIns="54864" rIns="54864" bIns="54864" anchor="t">
            <a:spAutoFit/>
          </a:bodyPr>
          <a:lstStyle/>
          <a:p>
            <a:pPr algn="ctr">
              <a:spcAft>
                <a:spcPts val="500"/>
              </a:spcAft>
              <a:defRPr sz="1500" b="1" i="0">
                <a:solidFill>
                  <a:srgbClr val="0F2340"/>
                </a:solidFill>
                <a:latin typeface="Aptos"/>
              </a:defRPr>
            </a:pPr>
            <a:r>
              <a:t>C</a:t>
            </a:r>
          </a:p>
        </p:txBody>
      </p:sp>
      <p:sp>
        <p:nvSpPr>
          <p:cNvPr id="25" name="TextBox 24"/>
          <p:cNvSpPr txBox="1"/>
          <p:nvPr/>
        </p:nvSpPr>
        <p:spPr>
          <a:xfrm>
            <a:off x="4434840" y="5989320"/>
            <a:ext cx="6035040" cy="274320"/>
          </a:xfrm>
          <a:prstGeom prst="rect">
            <a:avLst/>
          </a:prstGeom>
          <a:noFill/>
        </p:spPr>
        <p:txBody>
          <a:bodyPr wrap="square" lIns="54864" tIns="54864" rIns="54864" bIns="54864" anchor="t">
            <a:spAutoFit/>
          </a:bodyPr>
          <a:lstStyle/>
          <a:p>
            <a:pPr algn="ctr">
              <a:spcAft>
                <a:spcPts val="500"/>
              </a:spcAft>
              <a:defRPr sz="1400" b="1" i="0">
                <a:solidFill>
                  <a:srgbClr val="0F2340"/>
                </a:solidFill>
                <a:latin typeface="Aptos"/>
              </a:defRPr>
            </a:pPr>
            <a:r>
              <a:t>For every item, compare TAKE vs SKIP.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502920"/>
          </a:xfrm>
          <a:prstGeom prst="rect">
            <a:avLst/>
          </a:prstGeom>
          <a:noFill/>
        </p:spPr>
        <p:txBody>
          <a:bodyPr wrap="square" lIns="54864" tIns="54864" rIns="54864" bIns="54864" anchor="t">
            <a:spAutoFit/>
          </a:bodyPr>
          <a:lstStyle/>
          <a:p>
            <a:pPr algn="l">
              <a:spcAft>
                <a:spcPts val="500"/>
              </a:spcAft>
              <a:defRPr sz="2700" b="1" i="0">
                <a:solidFill>
                  <a:srgbClr val="0F2340"/>
                </a:solidFill>
                <a:latin typeface="Aptos"/>
              </a:defRPr>
            </a:pPr>
            <a:r>
              <a:t>5. Worked Example: 0/1 Knapsack</a:t>
            </a:r>
          </a:p>
        </p:txBody>
      </p:sp>
      <p:sp>
        <p:nvSpPr>
          <p:cNvPr id="3" name="Rectangle 2"/>
          <p:cNvSpPr/>
          <p:nvPr/>
        </p:nvSpPr>
        <p:spPr>
          <a:xfrm>
            <a:off x="530352" y="896112"/>
            <a:ext cx="914400" cy="50292"/>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509760" y="347472"/>
            <a:ext cx="2057400" cy="256032"/>
          </a:xfrm>
          <a:prstGeom prst="rect">
            <a:avLst/>
          </a:prstGeom>
          <a:noFill/>
        </p:spPr>
        <p:txBody>
          <a:bodyPr wrap="square" lIns="54864" tIns="54864" rIns="54864" bIns="54864" anchor="t">
            <a:spAutoFit/>
          </a:bodyPr>
          <a:lstStyle/>
          <a:p>
            <a:pPr algn="r">
              <a:spcAft>
                <a:spcPts val="500"/>
              </a:spcAft>
              <a:defRPr sz="900" b="1" i="0">
                <a:solidFill>
                  <a:srgbClr val="00B1A9"/>
                </a:solidFill>
                <a:latin typeface="Aptos"/>
              </a:defRPr>
            </a:pPr>
            <a:r>
              <a:t>CALCULATION</a:t>
            </a:r>
          </a:p>
        </p:txBody>
      </p:sp>
      <p:sp>
        <p:nvSpPr>
          <p:cNvPr id="5" name="TextBox 4"/>
          <p:cNvSpPr txBox="1"/>
          <p:nvPr/>
        </p:nvSpPr>
        <p:spPr>
          <a:xfrm>
            <a:off x="10789920" y="6528816"/>
            <a:ext cx="914400" cy="164592"/>
          </a:xfrm>
          <a:prstGeom prst="rect">
            <a:avLst/>
          </a:prstGeom>
          <a:noFill/>
        </p:spPr>
        <p:txBody>
          <a:bodyPr wrap="square" lIns="54864" tIns="54864" rIns="54864" bIns="54864" anchor="t">
            <a:spAutoFit/>
          </a:bodyPr>
          <a:lstStyle/>
          <a:p>
            <a:pPr algn="r">
              <a:spcAft>
                <a:spcPts val="500"/>
              </a:spcAft>
              <a:defRPr sz="800" b="0" i="0">
                <a:solidFill>
                  <a:srgbClr val="5E7082"/>
                </a:solidFill>
                <a:latin typeface="Aptos"/>
              </a:defRPr>
            </a:pPr>
            <a:r>
              <a:t>06  /  14</a:t>
            </a:r>
          </a:p>
        </p:txBody>
      </p:sp>
      <p:sp>
        <p:nvSpPr>
          <p:cNvPr id="6" name="TextBox 5"/>
          <p:cNvSpPr txBox="1"/>
          <p:nvPr/>
        </p:nvSpPr>
        <p:spPr>
          <a:xfrm>
            <a:off x="685800" y="1078992"/>
            <a:ext cx="10972800" cy="365760"/>
          </a:xfrm>
          <a:prstGeom prst="rect">
            <a:avLst/>
          </a:prstGeom>
          <a:noFill/>
        </p:spPr>
        <p:txBody>
          <a:bodyPr wrap="square" lIns="54864" tIns="54864" rIns="54864" bIns="54864" anchor="t">
            <a:spAutoFit/>
          </a:bodyPr>
          <a:lstStyle/>
          <a:p>
            <a:pPr algn="l">
              <a:spcAft>
                <a:spcPts val="500"/>
              </a:spcAft>
              <a:defRPr sz="1600" b="1" i="0">
                <a:solidFill>
                  <a:srgbClr val="233141"/>
                </a:solidFill>
                <a:latin typeface="Aptos"/>
              </a:defRPr>
            </a:pPr>
            <a:r>
              <a:t>Items: A (2,20)   B (3,30)   C (4,40)   D (5,50)        Capacity W = 7</a:t>
            </a:r>
          </a:p>
        </p:txBody>
      </p:sp>
      <p:graphicFrame>
        <p:nvGraphicFramePr>
          <p:cNvPr id="7" name="Table 6"/>
          <p:cNvGraphicFramePr>
            <a:graphicFrameLocks noGrp="1"/>
          </p:cNvGraphicFramePr>
          <p:nvPr/>
        </p:nvGraphicFramePr>
        <p:xfrm>
          <a:off x="685800" y="1645920"/>
          <a:ext cx="7589520" cy="342900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811530">
                  <a:extLst>
                    <a:ext uri="{9D8B030D-6E8A-4147-A177-3AD203B41FA5}">
                      <a16:colId xmlns:a16="http://schemas.microsoft.com/office/drawing/2014/main" val="20001"/>
                    </a:ext>
                  </a:extLst>
                </a:gridCol>
                <a:gridCol w="811530">
                  <a:extLst>
                    <a:ext uri="{9D8B030D-6E8A-4147-A177-3AD203B41FA5}">
                      <a16:colId xmlns:a16="http://schemas.microsoft.com/office/drawing/2014/main" val="20002"/>
                    </a:ext>
                  </a:extLst>
                </a:gridCol>
                <a:gridCol w="811530">
                  <a:extLst>
                    <a:ext uri="{9D8B030D-6E8A-4147-A177-3AD203B41FA5}">
                      <a16:colId xmlns:a16="http://schemas.microsoft.com/office/drawing/2014/main" val="20003"/>
                    </a:ext>
                  </a:extLst>
                </a:gridCol>
                <a:gridCol w="811530">
                  <a:extLst>
                    <a:ext uri="{9D8B030D-6E8A-4147-A177-3AD203B41FA5}">
                      <a16:colId xmlns:a16="http://schemas.microsoft.com/office/drawing/2014/main" val="20004"/>
                    </a:ext>
                  </a:extLst>
                </a:gridCol>
                <a:gridCol w="811530">
                  <a:extLst>
                    <a:ext uri="{9D8B030D-6E8A-4147-A177-3AD203B41FA5}">
                      <a16:colId xmlns:a16="http://schemas.microsoft.com/office/drawing/2014/main" val="20005"/>
                    </a:ext>
                  </a:extLst>
                </a:gridCol>
                <a:gridCol w="811530">
                  <a:extLst>
                    <a:ext uri="{9D8B030D-6E8A-4147-A177-3AD203B41FA5}">
                      <a16:colId xmlns:a16="http://schemas.microsoft.com/office/drawing/2014/main" val="20006"/>
                    </a:ext>
                  </a:extLst>
                </a:gridCol>
                <a:gridCol w="811530">
                  <a:extLst>
                    <a:ext uri="{9D8B030D-6E8A-4147-A177-3AD203B41FA5}">
                      <a16:colId xmlns:a16="http://schemas.microsoft.com/office/drawing/2014/main" val="20007"/>
                    </a:ext>
                  </a:extLst>
                </a:gridCol>
                <a:gridCol w="811530">
                  <a:extLst>
                    <a:ext uri="{9D8B030D-6E8A-4147-A177-3AD203B41FA5}">
                      <a16:colId xmlns:a16="http://schemas.microsoft.com/office/drawing/2014/main" val="20008"/>
                    </a:ext>
                  </a:extLst>
                </a:gridCol>
              </a:tblGrid>
              <a:tr h="685800">
                <a:tc>
                  <a:txBody>
                    <a:bodyPr/>
                    <a:lstStyle/>
                    <a:p>
                      <a:pPr algn="ctr">
                        <a:defRPr sz="1100" b="1">
                          <a:solidFill>
                            <a:srgbClr val="FFFFFF"/>
                          </a:solidFill>
                          <a:latin typeface="Aptos"/>
                        </a:defRPr>
                      </a:pPr>
                      <a:r>
                        <a:t>Items / c</a:t>
                      </a:r>
                    </a:p>
                  </a:txBody>
                  <a:tcPr marL="18288" marR="18288">
                    <a:solidFill>
                      <a:srgbClr val="0F2340"/>
                    </a:solidFill>
                  </a:tcPr>
                </a:tc>
                <a:tc>
                  <a:txBody>
                    <a:bodyPr/>
                    <a:lstStyle/>
                    <a:p>
                      <a:pPr algn="ctr">
                        <a:defRPr sz="1100" b="1">
                          <a:solidFill>
                            <a:srgbClr val="FFFFFF"/>
                          </a:solidFill>
                          <a:latin typeface="Aptos"/>
                        </a:defRPr>
                      </a:pPr>
                      <a:r>
                        <a:t>0</a:t>
                      </a:r>
                    </a:p>
                  </a:txBody>
                  <a:tcPr marL="18288" marR="18288">
                    <a:solidFill>
                      <a:srgbClr val="0F2340"/>
                    </a:solidFill>
                  </a:tcPr>
                </a:tc>
                <a:tc>
                  <a:txBody>
                    <a:bodyPr/>
                    <a:lstStyle/>
                    <a:p>
                      <a:pPr algn="ctr">
                        <a:defRPr sz="1100" b="1">
                          <a:solidFill>
                            <a:srgbClr val="FFFFFF"/>
                          </a:solidFill>
                          <a:latin typeface="Aptos"/>
                        </a:defRPr>
                      </a:pPr>
                      <a:r>
                        <a:t>1</a:t>
                      </a:r>
                    </a:p>
                  </a:txBody>
                  <a:tcPr marL="18288" marR="18288">
                    <a:solidFill>
                      <a:srgbClr val="0F2340"/>
                    </a:solidFill>
                  </a:tcPr>
                </a:tc>
                <a:tc>
                  <a:txBody>
                    <a:bodyPr/>
                    <a:lstStyle/>
                    <a:p>
                      <a:pPr algn="ctr">
                        <a:defRPr sz="1100" b="1">
                          <a:solidFill>
                            <a:srgbClr val="FFFFFF"/>
                          </a:solidFill>
                          <a:latin typeface="Aptos"/>
                        </a:defRPr>
                      </a:pPr>
                      <a:r>
                        <a:t>2</a:t>
                      </a:r>
                    </a:p>
                  </a:txBody>
                  <a:tcPr marL="18288" marR="18288">
                    <a:solidFill>
                      <a:srgbClr val="0F2340"/>
                    </a:solidFill>
                  </a:tcPr>
                </a:tc>
                <a:tc>
                  <a:txBody>
                    <a:bodyPr/>
                    <a:lstStyle/>
                    <a:p>
                      <a:pPr algn="ctr">
                        <a:defRPr sz="1100" b="1">
                          <a:solidFill>
                            <a:srgbClr val="FFFFFF"/>
                          </a:solidFill>
                          <a:latin typeface="Aptos"/>
                        </a:defRPr>
                      </a:pPr>
                      <a:r>
                        <a:t>3</a:t>
                      </a:r>
                    </a:p>
                  </a:txBody>
                  <a:tcPr marL="18288" marR="18288">
                    <a:solidFill>
                      <a:srgbClr val="0F2340"/>
                    </a:solidFill>
                  </a:tcPr>
                </a:tc>
                <a:tc>
                  <a:txBody>
                    <a:bodyPr/>
                    <a:lstStyle/>
                    <a:p>
                      <a:pPr algn="ctr">
                        <a:defRPr sz="1100" b="1">
                          <a:solidFill>
                            <a:srgbClr val="FFFFFF"/>
                          </a:solidFill>
                          <a:latin typeface="Aptos"/>
                        </a:defRPr>
                      </a:pPr>
                      <a:r>
                        <a:t>4</a:t>
                      </a:r>
                    </a:p>
                  </a:txBody>
                  <a:tcPr marL="18288" marR="18288">
                    <a:solidFill>
                      <a:srgbClr val="0F2340"/>
                    </a:solidFill>
                  </a:tcPr>
                </a:tc>
                <a:tc>
                  <a:txBody>
                    <a:bodyPr/>
                    <a:lstStyle/>
                    <a:p>
                      <a:pPr algn="ctr">
                        <a:defRPr sz="1100" b="1">
                          <a:solidFill>
                            <a:srgbClr val="FFFFFF"/>
                          </a:solidFill>
                          <a:latin typeface="Aptos"/>
                        </a:defRPr>
                      </a:pPr>
                      <a:r>
                        <a:t>5</a:t>
                      </a:r>
                    </a:p>
                  </a:txBody>
                  <a:tcPr marL="18288" marR="18288">
                    <a:solidFill>
                      <a:srgbClr val="0F2340"/>
                    </a:solidFill>
                  </a:tcPr>
                </a:tc>
                <a:tc>
                  <a:txBody>
                    <a:bodyPr/>
                    <a:lstStyle/>
                    <a:p>
                      <a:pPr algn="ctr">
                        <a:defRPr sz="1100" b="1">
                          <a:solidFill>
                            <a:srgbClr val="FFFFFF"/>
                          </a:solidFill>
                          <a:latin typeface="Aptos"/>
                        </a:defRPr>
                      </a:pPr>
                      <a:r>
                        <a:t>6</a:t>
                      </a:r>
                    </a:p>
                  </a:txBody>
                  <a:tcPr marL="18288" marR="18288">
                    <a:solidFill>
                      <a:srgbClr val="0F2340"/>
                    </a:solidFill>
                  </a:tcPr>
                </a:tc>
                <a:tc>
                  <a:txBody>
                    <a:bodyPr/>
                    <a:lstStyle/>
                    <a:p>
                      <a:pPr algn="ctr">
                        <a:defRPr sz="1100" b="1">
                          <a:solidFill>
                            <a:srgbClr val="FFFFFF"/>
                          </a:solidFill>
                          <a:latin typeface="Aptos"/>
                        </a:defRPr>
                      </a:pPr>
                      <a:r>
                        <a:t>7</a:t>
                      </a:r>
                    </a:p>
                  </a:txBody>
                  <a:tcPr marL="18288" marR="18288">
                    <a:solidFill>
                      <a:srgbClr val="0F2340"/>
                    </a:solidFill>
                  </a:tcPr>
                </a:tc>
                <a:extLst>
                  <a:ext uri="{0D108BD9-81ED-4DB2-BD59-A6C34878D82A}">
                    <a16:rowId xmlns:a16="http://schemas.microsoft.com/office/drawing/2014/main" val="10000"/>
                  </a:ext>
                </a:extLst>
              </a:tr>
              <a:tr h="685800">
                <a:tc>
                  <a:txBody>
                    <a:bodyPr/>
                    <a:lstStyle/>
                    <a:p>
                      <a:pPr algn="ctr">
                        <a:defRPr sz="1100" b="1">
                          <a:solidFill>
                            <a:srgbClr val="233141"/>
                          </a:solidFill>
                          <a:latin typeface="Aptos"/>
                        </a:defRPr>
                      </a:pPr>
                      <a:r>
                        <a:t>A</a:t>
                      </a:r>
                    </a:p>
                  </a:txBody>
                  <a:tcPr marL="18288" marR="18288">
                    <a:solidFill>
                      <a:srgbClr val="FFFFFF"/>
                    </a:solidFill>
                  </a:tcPr>
                </a:tc>
                <a:tc>
                  <a:txBody>
                    <a:bodyPr/>
                    <a:lstStyle/>
                    <a:p>
                      <a:pPr algn="ctr">
                        <a:defRPr sz="1100" b="0">
                          <a:solidFill>
                            <a:srgbClr val="233141"/>
                          </a:solidFill>
                          <a:latin typeface="Aptos"/>
                        </a:defRPr>
                      </a:pPr>
                      <a:r>
                        <a:t>0</a:t>
                      </a:r>
                    </a:p>
                  </a:txBody>
                  <a:tcPr marL="18288" marR="18288">
                    <a:solidFill>
                      <a:srgbClr val="FFFFFF"/>
                    </a:solidFill>
                  </a:tcPr>
                </a:tc>
                <a:tc>
                  <a:txBody>
                    <a:bodyPr/>
                    <a:lstStyle/>
                    <a:p>
                      <a:pPr algn="ctr">
                        <a:defRPr sz="1100" b="0">
                          <a:solidFill>
                            <a:srgbClr val="233141"/>
                          </a:solidFill>
                          <a:latin typeface="Aptos"/>
                        </a:defRPr>
                      </a:pPr>
                      <a:r>
                        <a:t>0</a:t>
                      </a:r>
                    </a:p>
                  </a:txBody>
                  <a:tcPr marL="18288" marR="18288">
                    <a:solidFill>
                      <a:srgbClr val="FFFFFF"/>
                    </a:solidFill>
                  </a:tcPr>
                </a:tc>
                <a:tc>
                  <a:txBody>
                    <a:bodyPr/>
                    <a:lstStyle/>
                    <a:p>
                      <a:pPr algn="ctr">
                        <a:defRPr sz="1100" b="0">
                          <a:solidFill>
                            <a:srgbClr val="233141"/>
                          </a:solidFill>
                          <a:latin typeface="Aptos"/>
                        </a:defRPr>
                      </a:pPr>
                      <a:r>
                        <a:t>20</a:t>
                      </a:r>
                    </a:p>
                  </a:txBody>
                  <a:tcPr marL="18288" marR="18288">
                    <a:solidFill>
                      <a:srgbClr val="FFFFFF"/>
                    </a:solidFill>
                  </a:tcPr>
                </a:tc>
                <a:tc>
                  <a:txBody>
                    <a:bodyPr/>
                    <a:lstStyle/>
                    <a:p>
                      <a:pPr algn="ctr">
                        <a:defRPr sz="1100" b="0">
                          <a:solidFill>
                            <a:srgbClr val="233141"/>
                          </a:solidFill>
                          <a:latin typeface="Aptos"/>
                        </a:defRPr>
                      </a:pPr>
                      <a:r>
                        <a:t>20</a:t>
                      </a:r>
                    </a:p>
                  </a:txBody>
                  <a:tcPr marL="18288" marR="18288">
                    <a:solidFill>
                      <a:srgbClr val="FFFFFF"/>
                    </a:solidFill>
                  </a:tcPr>
                </a:tc>
                <a:tc>
                  <a:txBody>
                    <a:bodyPr/>
                    <a:lstStyle/>
                    <a:p>
                      <a:pPr algn="ctr">
                        <a:defRPr sz="1100" b="0">
                          <a:solidFill>
                            <a:srgbClr val="233141"/>
                          </a:solidFill>
                          <a:latin typeface="Aptos"/>
                        </a:defRPr>
                      </a:pPr>
                      <a:r>
                        <a:t>20</a:t>
                      </a:r>
                    </a:p>
                  </a:txBody>
                  <a:tcPr marL="18288" marR="18288">
                    <a:solidFill>
                      <a:srgbClr val="FFFFFF"/>
                    </a:solidFill>
                  </a:tcPr>
                </a:tc>
                <a:tc>
                  <a:txBody>
                    <a:bodyPr/>
                    <a:lstStyle/>
                    <a:p>
                      <a:pPr algn="ctr">
                        <a:defRPr sz="1100" b="0">
                          <a:solidFill>
                            <a:srgbClr val="233141"/>
                          </a:solidFill>
                          <a:latin typeface="Aptos"/>
                        </a:defRPr>
                      </a:pPr>
                      <a:r>
                        <a:t>20</a:t>
                      </a:r>
                    </a:p>
                  </a:txBody>
                  <a:tcPr marL="18288" marR="18288">
                    <a:solidFill>
                      <a:srgbClr val="FFFFFF"/>
                    </a:solidFill>
                  </a:tcPr>
                </a:tc>
                <a:tc>
                  <a:txBody>
                    <a:bodyPr/>
                    <a:lstStyle/>
                    <a:p>
                      <a:pPr algn="ctr">
                        <a:defRPr sz="1100" b="0">
                          <a:solidFill>
                            <a:srgbClr val="233141"/>
                          </a:solidFill>
                          <a:latin typeface="Aptos"/>
                        </a:defRPr>
                      </a:pPr>
                      <a:r>
                        <a:t>20</a:t>
                      </a:r>
                    </a:p>
                  </a:txBody>
                  <a:tcPr marL="18288" marR="18288">
                    <a:solidFill>
                      <a:srgbClr val="FFFFFF"/>
                    </a:solidFill>
                  </a:tcPr>
                </a:tc>
                <a:tc>
                  <a:txBody>
                    <a:bodyPr/>
                    <a:lstStyle/>
                    <a:p>
                      <a:pPr algn="ctr">
                        <a:defRPr sz="1100" b="0">
                          <a:solidFill>
                            <a:srgbClr val="233141"/>
                          </a:solidFill>
                          <a:latin typeface="Aptos"/>
                        </a:defRPr>
                      </a:pPr>
                      <a:r>
                        <a:t>20</a:t>
                      </a:r>
                    </a:p>
                  </a:txBody>
                  <a:tcPr marL="18288" marR="18288">
                    <a:solidFill>
                      <a:srgbClr val="FFFFFF"/>
                    </a:solidFill>
                  </a:tcPr>
                </a:tc>
                <a:extLst>
                  <a:ext uri="{0D108BD9-81ED-4DB2-BD59-A6C34878D82A}">
                    <a16:rowId xmlns:a16="http://schemas.microsoft.com/office/drawing/2014/main" val="10001"/>
                  </a:ext>
                </a:extLst>
              </a:tr>
              <a:tr h="685800">
                <a:tc>
                  <a:txBody>
                    <a:bodyPr/>
                    <a:lstStyle/>
                    <a:p>
                      <a:pPr algn="ctr">
                        <a:defRPr sz="1100" b="1">
                          <a:solidFill>
                            <a:srgbClr val="233141"/>
                          </a:solidFill>
                          <a:latin typeface="Aptos"/>
                        </a:defRPr>
                      </a:pPr>
                      <a:r>
                        <a:t>B</a:t>
                      </a:r>
                    </a:p>
                  </a:txBody>
                  <a:tcPr marL="18288" marR="18288">
                    <a:solidFill>
                      <a:srgbClr val="EDF4F8"/>
                    </a:solidFill>
                  </a:tcPr>
                </a:tc>
                <a:tc>
                  <a:txBody>
                    <a:bodyPr/>
                    <a:lstStyle/>
                    <a:p>
                      <a:pPr algn="ctr">
                        <a:defRPr sz="1100" b="0">
                          <a:solidFill>
                            <a:srgbClr val="233141"/>
                          </a:solidFill>
                          <a:latin typeface="Aptos"/>
                        </a:defRPr>
                      </a:pPr>
                      <a:r>
                        <a:t>0</a:t>
                      </a:r>
                    </a:p>
                  </a:txBody>
                  <a:tcPr marL="18288" marR="18288">
                    <a:solidFill>
                      <a:srgbClr val="EDF4F8"/>
                    </a:solidFill>
                  </a:tcPr>
                </a:tc>
                <a:tc>
                  <a:txBody>
                    <a:bodyPr/>
                    <a:lstStyle/>
                    <a:p>
                      <a:pPr algn="ctr">
                        <a:defRPr sz="1100" b="0">
                          <a:solidFill>
                            <a:srgbClr val="233141"/>
                          </a:solidFill>
                          <a:latin typeface="Aptos"/>
                        </a:defRPr>
                      </a:pPr>
                      <a:r>
                        <a:t>0</a:t>
                      </a:r>
                    </a:p>
                  </a:txBody>
                  <a:tcPr marL="18288" marR="18288">
                    <a:solidFill>
                      <a:srgbClr val="EDF4F8"/>
                    </a:solidFill>
                  </a:tcPr>
                </a:tc>
                <a:tc>
                  <a:txBody>
                    <a:bodyPr/>
                    <a:lstStyle/>
                    <a:p>
                      <a:pPr algn="ctr">
                        <a:defRPr sz="1100" b="0">
                          <a:solidFill>
                            <a:srgbClr val="233141"/>
                          </a:solidFill>
                          <a:latin typeface="Aptos"/>
                        </a:defRPr>
                      </a:pPr>
                      <a:r>
                        <a:t>20</a:t>
                      </a:r>
                    </a:p>
                  </a:txBody>
                  <a:tcPr marL="18288" marR="18288">
                    <a:solidFill>
                      <a:srgbClr val="EDF4F8"/>
                    </a:solidFill>
                  </a:tcPr>
                </a:tc>
                <a:tc>
                  <a:txBody>
                    <a:bodyPr/>
                    <a:lstStyle/>
                    <a:p>
                      <a:pPr algn="ctr">
                        <a:defRPr sz="1100" b="0">
                          <a:solidFill>
                            <a:srgbClr val="233141"/>
                          </a:solidFill>
                          <a:latin typeface="Aptos"/>
                        </a:defRPr>
                      </a:pPr>
                      <a:r>
                        <a:t>30</a:t>
                      </a:r>
                    </a:p>
                  </a:txBody>
                  <a:tcPr marL="18288" marR="18288">
                    <a:solidFill>
                      <a:srgbClr val="EDF4F8"/>
                    </a:solidFill>
                  </a:tcPr>
                </a:tc>
                <a:tc>
                  <a:txBody>
                    <a:bodyPr/>
                    <a:lstStyle/>
                    <a:p>
                      <a:pPr algn="ctr">
                        <a:defRPr sz="1100" b="0">
                          <a:solidFill>
                            <a:srgbClr val="233141"/>
                          </a:solidFill>
                          <a:latin typeface="Aptos"/>
                        </a:defRPr>
                      </a:pPr>
                      <a:r>
                        <a:t>30</a:t>
                      </a:r>
                    </a:p>
                  </a:txBody>
                  <a:tcPr marL="18288" marR="18288">
                    <a:solidFill>
                      <a:srgbClr val="EDF4F8"/>
                    </a:solidFill>
                  </a:tcPr>
                </a:tc>
                <a:tc>
                  <a:txBody>
                    <a:bodyPr/>
                    <a:lstStyle/>
                    <a:p>
                      <a:pPr algn="ctr">
                        <a:defRPr sz="1100" b="0">
                          <a:solidFill>
                            <a:srgbClr val="233141"/>
                          </a:solidFill>
                          <a:latin typeface="Aptos"/>
                        </a:defRPr>
                      </a:pPr>
                      <a:r>
                        <a:t>50</a:t>
                      </a:r>
                    </a:p>
                  </a:txBody>
                  <a:tcPr marL="18288" marR="18288">
                    <a:solidFill>
                      <a:srgbClr val="EDF4F8"/>
                    </a:solidFill>
                  </a:tcPr>
                </a:tc>
                <a:tc>
                  <a:txBody>
                    <a:bodyPr/>
                    <a:lstStyle/>
                    <a:p>
                      <a:pPr algn="ctr">
                        <a:defRPr sz="1100" b="0">
                          <a:solidFill>
                            <a:srgbClr val="233141"/>
                          </a:solidFill>
                          <a:latin typeface="Aptos"/>
                        </a:defRPr>
                      </a:pPr>
                      <a:r>
                        <a:t>50</a:t>
                      </a:r>
                    </a:p>
                  </a:txBody>
                  <a:tcPr marL="18288" marR="18288">
                    <a:solidFill>
                      <a:srgbClr val="EDF4F8"/>
                    </a:solidFill>
                  </a:tcPr>
                </a:tc>
                <a:tc>
                  <a:txBody>
                    <a:bodyPr/>
                    <a:lstStyle/>
                    <a:p>
                      <a:pPr algn="ctr">
                        <a:defRPr sz="1100" b="0">
                          <a:solidFill>
                            <a:srgbClr val="233141"/>
                          </a:solidFill>
                          <a:latin typeface="Aptos"/>
                        </a:defRPr>
                      </a:pPr>
                      <a:r>
                        <a:t>50</a:t>
                      </a:r>
                    </a:p>
                  </a:txBody>
                  <a:tcPr marL="18288" marR="18288">
                    <a:solidFill>
                      <a:srgbClr val="EDF4F8"/>
                    </a:solidFill>
                  </a:tcPr>
                </a:tc>
                <a:extLst>
                  <a:ext uri="{0D108BD9-81ED-4DB2-BD59-A6C34878D82A}">
                    <a16:rowId xmlns:a16="http://schemas.microsoft.com/office/drawing/2014/main" val="10002"/>
                  </a:ext>
                </a:extLst>
              </a:tr>
              <a:tr h="685800">
                <a:tc>
                  <a:txBody>
                    <a:bodyPr/>
                    <a:lstStyle/>
                    <a:p>
                      <a:pPr algn="ctr">
                        <a:defRPr sz="1100" b="1">
                          <a:solidFill>
                            <a:srgbClr val="233141"/>
                          </a:solidFill>
                          <a:latin typeface="Aptos"/>
                        </a:defRPr>
                      </a:pPr>
                      <a:r>
                        <a:t>C</a:t>
                      </a:r>
                    </a:p>
                  </a:txBody>
                  <a:tcPr marL="18288" marR="18288">
                    <a:solidFill>
                      <a:srgbClr val="FFFFFF"/>
                    </a:solidFill>
                  </a:tcPr>
                </a:tc>
                <a:tc>
                  <a:txBody>
                    <a:bodyPr/>
                    <a:lstStyle/>
                    <a:p>
                      <a:pPr algn="ctr">
                        <a:defRPr sz="1100" b="0">
                          <a:solidFill>
                            <a:srgbClr val="233141"/>
                          </a:solidFill>
                          <a:latin typeface="Aptos"/>
                        </a:defRPr>
                      </a:pPr>
                      <a:r>
                        <a:t>0</a:t>
                      </a:r>
                    </a:p>
                  </a:txBody>
                  <a:tcPr marL="18288" marR="18288">
                    <a:solidFill>
                      <a:srgbClr val="FFFFFF"/>
                    </a:solidFill>
                  </a:tcPr>
                </a:tc>
                <a:tc>
                  <a:txBody>
                    <a:bodyPr/>
                    <a:lstStyle/>
                    <a:p>
                      <a:pPr algn="ctr">
                        <a:defRPr sz="1100" b="0">
                          <a:solidFill>
                            <a:srgbClr val="233141"/>
                          </a:solidFill>
                          <a:latin typeface="Aptos"/>
                        </a:defRPr>
                      </a:pPr>
                      <a:r>
                        <a:t>0</a:t>
                      </a:r>
                    </a:p>
                  </a:txBody>
                  <a:tcPr marL="18288" marR="18288">
                    <a:solidFill>
                      <a:srgbClr val="FFFFFF"/>
                    </a:solidFill>
                  </a:tcPr>
                </a:tc>
                <a:tc>
                  <a:txBody>
                    <a:bodyPr/>
                    <a:lstStyle/>
                    <a:p>
                      <a:pPr algn="ctr">
                        <a:defRPr sz="1100" b="0">
                          <a:solidFill>
                            <a:srgbClr val="233141"/>
                          </a:solidFill>
                          <a:latin typeface="Aptos"/>
                        </a:defRPr>
                      </a:pPr>
                      <a:r>
                        <a:t>20</a:t>
                      </a:r>
                    </a:p>
                  </a:txBody>
                  <a:tcPr marL="18288" marR="18288">
                    <a:solidFill>
                      <a:srgbClr val="FFFFFF"/>
                    </a:solidFill>
                  </a:tcPr>
                </a:tc>
                <a:tc>
                  <a:txBody>
                    <a:bodyPr/>
                    <a:lstStyle/>
                    <a:p>
                      <a:pPr algn="ctr">
                        <a:defRPr sz="1100" b="0">
                          <a:solidFill>
                            <a:srgbClr val="233141"/>
                          </a:solidFill>
                          <a:latin typeface="Aptos"/>
                        </a:defRPr>
                      </a:pPr>
                      <a:r>
                        <a:t>30</a:t>
                      </a:r>
                    </a:p>
                  </a:txBody>
                  <a:tcPr marL="18288" marR="18288">
                    <a:solidFill>
                      <a:srgbClr val="FFFFFF"/>
                    </a:solidFill>
                  </a:tcPr>
                </a:tc>
                <a:tc>
                  <a:txBody>
                    <a:bodyPr/>
                    <a:lstStyle/>
                    <a:p>
                      <a:pPr algn="ctr">
                        <a:defRPr sz="1100" b="0">
                          <a:solidFill>
                            <a:srgbClr val="233141"/>
                          </a:solidFill>
                          <a:latin typeface="Aptos"/>
                        </a:defRPr>
                      </a:pPr>
                      <a:r>
                        <a:t>40</a:t>
                      </a:r>
                    </a:p>
                  </a:txBody>
                  <a:tcPr marL="18288" marR="18288">
                    <a:solidFill>
                      <a:srgbClr val="FFFFFF"/>
                    </a:solidFill>
                  </a:tcPr>
                </a:tc>
                <a:tc>
                  <a:txBody>
                    <a:bodyPr/>
                    <a:lstStyle/>
                    <a:p>
                      <a:pPr algn="ctr">
                        <a:defRPr sz="1100" b="0">
                          <a:solidFill>
                            <a:srgbClr val="233141"/>
                          </a:solidFill>
                          <a:latin typeface="Aptos"/>
                        </a:defRPr>
                      </a:pPr>
                      <a:r>
                        <a:t>50</a:t>
                      </a:r>
                    </a:p>
                  </a:txBody>
                  <a:tcPr marL="18288" marR="18288">
                    <a:solidFill>
                      <a:srgbClr val="FFFFFF"/>
                    </a:solidFill>
                  </a:tcPr>
                </a:tc>
                <a:tc>
                  <a:txBody>
                    <a:bodyPr/>
                    <a:lstStyle/>
                    <a:p>
                      <a:pPr algn="ctr">
                        <a:defRPr sz="1100" b="0">
                          <a:solidFill>
                            <a:srgbClr val="233141"/>
                          </a:solidFill>
                          <a:latin typeface="Aptos"/>
                        </a:defRPr>
                      </a:pPr>
                      <a:r>
                        <a:t>60</a:t>
                      </a:r>
                    </a:p>
                  </a:txBody>
                  <a:tcPr marL="18288" marR="18288">
                    <a:solidFill>
                      <a:srgbClr val="FFFFFF"/>
                    </a:solidFill>
                  </a:tcPr>
                </a:tc>
                <a:tc>
                  <a:txBody>
                    <a:bodyPr/>
                    <a:lstStyle/>
                    <a:p>
                      <a:pPr algn="ctr">
                        <a:defRPr sz="1100" b="0">
                          <a:solidFill>
                            <a:srgbClr val="233141"/>
                          </a:solidFill>
                          <a:latin typeface="Aptos"/>
                        </a:defRPr>
                      </a:pPr>
                      <a:r>
                        <a:t>70</a:t>
                      </a:r>
                    </a:p>
                  </a:txBody>
                  <a:tcPr marL="18288" marR="18288">
                    <a:solidFill>
                      <a:srgbClr val="FFFFFF"/>
                    </a:solidFill>
                  </a:tcPr>
                </a:tc>
                <a:extLst>
                  <a:ext uri="{0D108BD9-81ED-4DB2-BD59-A6C34878D82A}">
                    <a16:rowId xmlns:a16="http://schemas.microsoft.com/office/drawing/2014/main" val="10003"/>
                  </a:ext>
                </a:extLst>
              </a:tr>
              <a:tr h="685800">
                <a:tc>
                  <a:txBody>
                    <a:bodyPr/>
                    <a:lstStyle/>
                    <a:p>
                      <a:pPr algn="ctr">
                        <a:defRPr sz="1100" b="1">
                          <a:solidFill>
                            <a:srgbClr val="233141"/>
                          </a:solidFill>
                          <a:latin typeface="Aptos"/>
                        </a:defRPr>
                      </a:pPr>
                      <a:r>
                        <a:t>D</a:t>
                      </a:r>
                    </a:p>
                  </a:txBody>
                  <a:tcPr marL="18288" marR="18288">
                    <a:solidFill>
                      <a:srgbClr val="EDF4F8"/>
                    </a:solidFill>
                  </a:tcPr>
                </a:tc>
                <a:tc>
                  <a:txBody>
                    <a:bodyPr/>
                    <a:lstStyle/>
                    <a:p>
                      <a:pPr algn="ctr">
                        <a:defRPr sz="1100" b="0">
                          <a:solidFill>
                            <a:srgbClr val="233141"/>
                          </a:solidFill>
                          <a:latin typeface="Aptos"/>
                        </a:defRPr>
                      </a:pPr>
                      <a:r>
                        <a:t>0</a:t>
                      </a:r>
                    </a:p>
                  </a:txBody>
                  <a:tcPr marL="18288" marR="18288">
                    <a:solidFill>
                      <a:srgbClr val="EDF4F8"/>
                    </a:solidFill>
                  </a:tcPr>
                </a:tc>
                <a:tc>
                  <a:txBody>
                    <a:bodyPr/>
                    <a:lstStyle/>
                    <a:p>
                      <a:pPr algn="ctr">
                        <a:defRPr sz="1100" b="0">
                          <a:solidFill>
                            <a:srgbClr val="233141"/>
                          </a:solidFill>
                          <a:latin typeface="Aptos"/>
                        </a:defRPr>
                      </a:pPr>
                      <a:r>
                        <a:t>0</a:t>
                      </a:r>
                    </a:p>
                  </a:txBody>
                  <a:tcPr marL="18288" marR="18288">
                    <a:solidFill>
                      <a:srgbClr val="EDF4F8"/>
                    </a:solidFill>
                  </a:tcPr>
                </a:tc>
                <a:tc>
                  <a:txBody>
                    <a:bodyPr/>
                    <a:lstStyle/>
                    <a:p>
                      <a:pPr algn="ctr">
                        <a:defRPr sz="1100" b="0">
                          <a:solidFill>
                            <a:srgbClr val="233141"/>
                          </a:solidFill>
                          <a:latin typeface="Aptos"/>
                        </a:defRPr>
                      </a:pPr>
                      <a:r>
                        <a:t>20</a:t>
                      </a:r>
                    </a:p>
                  </a:txBody>
                  <a:tcPr marL="18288" marR="18288">
                    <a:solidFill>
                      <a:srgbClr val="EDF4F8"/>
                    </a:solidFill>
                  </a:tcPr>
                </a:tc>
                <a:tc>
                  <a:txBody>
                    <a:bodyPr/>
                    <a:lstStyle/>
                    <a:p>
                      <a:pPr algn="ctr">
                        <a:defRPr sz="1100" b="0">
                          <a:solidFill>
                            <a:srgbClr val="233141"/>
                          </a:solidFill>
                          <a:latin typeface="Aptos"/>
                        </a:defRPr>
                      </a:pPr>
                      <a:r>
                        <a:t>30</a:t>
                      </a:r>
                    </a:p>
                  </a:txBody>
                  <a:tcPr marL="18288" marR="18288">
                    <a:solidFill>
                      <a:srgbClr val="EDF4F8"/>
                    </a:solidFill>
                  </a:tcPr>
                </a:tc>
                <a:tc>
                  <a:txBody>
                    <a:bodyPr/>
                    <a:lstStyle/>
                    <a:p>
                      <a:pPr algn="ctr">
                        <a:defRPr sz="1100" b="0">
                          <a:solidFill>
                            <a:srgbClr val="233141"/>
                          </a:solidFill>
                          <a:latin typeface="Aptos"/>
                        </a:defRPr>
                      </a:pPr>
                      <a:r>
                        <a:t>40</a:t>
                      </a:r>
                    </a:p>
                  </a:txBody>
                  <a:tcPr marL="18288" marR="18288">
                    <a:solidFill>
                      <a:srgbClr val="EDF4F8"/>
                    </a:solidFill>
                  </a:tcPr>
                </a:tc>
                <a:tc>
                  <a:txBody>
                    <a:bodyPr/>
                    <a:lstStyle/>
                    <a:p>
                      <a:pPr algn="ctr">
                        <a:defRPr sz="1100" b="0">
                          <a:solidFill>
                            <a:srgbClr val="233141"/>
                          </a:solidFill>
                          <a:latin typeface="Aptos"/>
                        </a:defRPr>
                      </a:pPr>
                      <a:r>
                        <a:t>50</a:t>
                      </a:r>
                    </a:p>
                  </a:txBody>
                  <a:tcPr marL="18288" marR="18288">
                    <a:solidFill>
                      <a:srgbClr val="EDF4F8"/>
                    </a:solidFill>
                  </a:tcPr>
                </a:tc>
                <a:tc>
                  <a:txBody>
                    <a:bodyPr/>
                    <a:lstStyle/>
                    <a:p>
                      <a:pPr algn="ctr">
                        <a:defRPr sz="1100" b="0">
                          <a:solidFill>
                            <a:srgbClr val="233141"/>
                          </a:solidFill>
                          <a:latin typeface="Aptos"/>
                        </a:defRPr>
                      </a:pPr>
                      <a:r>
                        <a:t>60</a:t>
                      </a:r>
                    </a:p>
                  </a:txBody>
                  <a:tcPr marL="18288" marR="18288">
                    <a:solidFill>
                      <a:srgbClr val="EDF4F8"/>
                    </a:solidFill>
                  </a:tcPr>
                </a:tc>
                <a:tc>
                  <a:txBody>
                    <a:bodyPr/>
                    <a:lstStyle/>
                    <a:p>
                      <a:pPr algn="ctr">
                        <a:defRPr sz="1100" b="1">
                          <a:solidFill>
                            <a:srgbClr val="233141"/>
                          </a:solidFill>
                          <a:latin typeface="Aptos"/>
                        </a:defRPr>
                      </a:pPr>
                      <a:r>
                        <a:t>70</a:t>
                      </a:r>
                    </a:p>
                  </a:txBody>
                  <a:tcPr marL="18288" marR="18288">
                    <a:solidFill>
                      <a:srgbClr val="BEF4EE"/>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8549640" y="1828800"/>
            <a:ext cx="2926080" cy="292608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23960" y="2084831"/>
            <a:ext cx="2377440" cy="320040"/>
          </a:xfrm>
          <a:prstGeom prst="rect">
            <a:avLst/>
          </a:prstGeom>
          <a:noFill/>
        </p:spPr>
        <p:txBody>
          <a:bodyPr wrap="square" lIns="54864" tIns="54864" rIns="54864" bIns="54864" anchor="t">
            <a:spAutoFit/>
          </a:bodyPr>
          <a:lstStyle/>
          <a:p>
            <a:pPr algn="l">
              <a:spcAft>
                <a:spcPts val="500"/>
              </a:spcAft>
              <a:defRPr sz="1700" b="1" i="0">
                <a:solidFill>
                  <a:srgbClr val="0F2340"/>
                </a:solidFill>
                <a:latin typeface="Aptos"/>
              </a:defRPr>
            </a:pPr>
            <a:r>
              <a:t>Optimal selection</a:t>
            </a:r>
          </a:p>
        </p:txBody>
      </p:sp>
      <p:sp>
        <p:nvSpPr>
          <p:cNvPr id="10" name="TextBox 9"/>
          <p:cNvSpPr txBox="1"/>
          <p:nvPr/>
        </p:nvSpPr>
        <p:spPr>
          <a:xfrm>
            <a:off x="8823960" y="2606040"/>
            <a:ext cx="2331720" cy="685800"/>
          </a:xfrm>
          <a:prstGeom prst="rect">
            <a:avLst/>
          </a:prstGeom>
          <a:noFill/>
        </p:spPr>
        <p:txBody>
          <a:bodyPr wrap="square" lIns="54864" tIns="54864" rIns="54864" bIns="54864" anchor="t">
            <a:spAutoFit/>
          </a:bodyPr>
          <a:lstStyle/>
          <a:p>
            <a:pPr algn="l">
              <a:spcAft>
                <a:spcPts val="500"/>
              </a:spcAft>
              <a:defRPr sz="1400" b="1" i="0">
                <a:solidFill>
                  <a:srgbClr val="E2574C"/>
                </a:solidFill>
                <a:latin typeface="Aptos"/>
              </a:defRPr>
            </a:pPr>
            <a:r>
              <a:t>B + D</a:t>
            </a:r>
          </a:p>
          <a:p>
            <a:pPr algn="l">
              <a:spcAft>
                <a:spcPts val="500"/>
              </a:spcAft>
              <a:defRPr sz="1400" b="1" i="0">
                <a:solidFill>
                  <a:srgbClr val="E2574C"/>
                </a:solidFill>
                <a:latin typeface="Aptos"/>
              </a:defRPr>
            </a:pPr>
            <a:r>
              <a:t>Weight = 3 + 5 = 8  (too heavy)</a:t>
            </a:r>
          </a:p>
        </p:txBody>
      </p:sp>
      <p:sp>
        <p:nvSpPr>
          <p:cNvPr id="11" name="TextBox 10"/>
          <p:cNvSpPr txBox="1"/>
          <p:nvPr/>
        </p:nvSpPr>
        <p:spPr>
          <a:xfrm>
            <a:off x="8823960" y="3429000"/>
            <a:ext cx="2331720" cy="914400"/>
          </a:xfrm>
          <a:prstGeom prst="rect">
            <a:avLst/>
          </a:prstGeom>
          <a:noFill/>
        </p:spPr>
        <p:txBody>
          <a:bodyPr wrap="square" lIns="54864" tIns="54864" rIns="54864" bIns="54864" anchor="t">
            <a:spAutoFit/>
          </a:bodyPr>
          <a:lstStyle/>
          <a:p>
            <a:pPr algn="l">
              <a:spcAft>
                <a:spcPts val="500"/>
              </a:spcAft>
              <a:defRPr sz="1600" b="1" i="0">
                <a:solidFill>
                  <a:srgbClr val="269170"/>
                </a:solidFill>
                <a:latin typeface="Aptos"/>
              </a:defRPr>
            </a:pPr>
            <a:r>
              <a:t>A + D</a:t>
            </a:r>
          </a:p>
          <a:p>
            <a:pPr algn="l">
              <a:spcAft>
                <a:spcPts val="500"/>
              </a:spcAft>
              <a:defRPr sz="1600" b="1" i="0">
                <a:solidFill>
                  <a:srgbClr val="269170"/>
                </a:solidFill>
                <a:latin typeface="Aptos"/>
              </a:defRPr>
            </a:pPr>
            <a:r>
              <a:t>Weight = 2 + 5 = 7</a:t>
            </a:r>
          </a:p>
          <a:p>
            <a:pPr algn="l">
              <a:spcAft>
                <a:spcPts val="500"/>
              </a:spcAft>
              <a:defRPr sz="1600" b="1" i="0">
                <a:solidFill>
                  <a:srgbClr val="269170"/>
                </a:solidFill>
                <a:latin typeface="Aptos"/>
              </a:defRPr>
            </a:pPr>
            <a:r>
              <a:t>Profit = 20 + 50 = 70</a:t>
            </a:r>
          </a:p>
        </p:txBody>
      </p:sp>
      <p:sp>
        <p:nvSpPr>
          <p:cNvPr id="12" name="TextBox 11"/>
          <p:cNvSpPr txBox="1"/>
          <p:nvPr/>
        </p:nvSpPr>
        <p:spPr>
          <a:xfrm>
            <a:off x="8732520" y="5074920"/>
            <a:ext cx="2743200" cy="411480"/>
          </a:xfrm>
          <a:prstGeom prst="rect">
            <a:avLst/>
          </a:prstGeom>
          <a:noFill/>
        </p:spPr>
        <p:txBody>
          <a:bodyPr wrap="square" lIns="54864" tIns="54864" rIns="54864" bIns="54864" anchor="t">
            <a:spAutoFit/>
          </a:bodyPr>
          <a:lstStyle/>
          <a:p>
            <a:pPr algn="ctr">
              <a:spcAft>
                <a:spcPts val="500"/>
              </a:spcAft>
              <a:defRPr sz="2000" b="1" i="0">
                <a:solidFill>
                  <a:srgbClr val="00B1A9"/>
                </a:solidFill>
                <a:latin typeface="Aptos"/>
              </a:defRPr>
            </a:pPr>
            <a:r>
              <a:t>Maximum profit = 70</a:t>
            </a:r>
          </a:p>
        </p:txBody>
      </p:sp>
      <p:sp>
        <p:nvSpPr>
          <p:cNvPr id="13" name="TextBox 12"/>
          <p:cNvSpPr txBox="1"/>
          <p:nvPr/>
        </p:nvSpPr>
        <p:spPr>
          <a:xfrm>
            <a:off x="8549640" y="5669280"/>
            <a:ext cx="2926080" cy="411480"/>
          </a:xfrm>
          <a:prstGeom prst="rect">
            <a:avLst/>
          </a:prstGeom>
          <a:noFill/>
        </p:spPr>
        <p:txBody>
          <a:bodyPr wrap="square" lIns="54864" tIns="54864" rIns="54864" bIns="54864" anchor="t">
            <a:spAutoFit/>
          </a:bodyPr>
          <a:lstStyle/>
          <a:p>
            <a:pPr algn="ctr">
              <a:spcAft>
                <a:spcPts val="500"/>
              </a:spcAft>
              <a:defRPr sz="1200" b="0" i="0">
                <a:solidFill>
                  <a:srgbClr val="5E7082"/>
                </a:solidFill>
                <a:latin typeface="Aptos"/>
              </a:defRPr>
            </a:pPr>
            <a:r>
              <a:t>At capacity 7, choose A and D exactly.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502920"/>
          </a:xfrm>
          <a:prstGeom prst="rect">
            <a:avLst/>
          </a:prstGeom>
          <a:noFill/>
        </p:spPr>
        <p:txBody>
          <a:bodyPr wrap="square" lIns="54864" tIns="54864" rIns="54864" bIns="54864" anchor="t">
            <a:spAutoFit/>
          </a:bodyPr>
          <a:lstStyle/>
          <a:p>
            <a:pPr algn="l">
              <a:spcAft>
                <a:spcPts val="500"/>
              </a:spcAft>
              <a:defRPr sz="2700" b="1" i="0">
                <a:solidFill>
                  <a:srgbClr val="0F2340"/>
                </a:solidFill>
                <a:latin typeface="Aptos"/>
              </a:defRPr>
            </a:pPr>
            <a:r>
              <a:t>6. Dynamic Programming Algorithm</a:t>
            </a:r>
          </a:p>
        </p:txBody>
      </p:sp>
      <p:sp>
        <p:nvSpPr>
          <p:cNvPr id="3" name="Rectangle 2"/>
          <p:cNvSpPr/>
          <p:nvPr/>
        </p:nvSpPr>
        <p:spPr>
          <a:xfrm>
            <a:off x="530352" y="896112"/>
            <a:ext cx="914400" cy="50292"/>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509760" y="347472"/>
            <a:ext cx="2057400" cy="256032"/>
          </a:xfrm>
          <a:prstGeom prst="rect">
            <a:avLst/>
          </a:prstGeom>
          <a:noFill/>
        </p:spPr>
        <p:txBody>
          <a:bodyPr wrap="square" lIns="54864" tIns="54864" rIns="54864" bIns="54864" anchor="t">
            <a:spAutoFit/>
          </a:bodyPr>
          <a:lstStyle/>
          <a:p>
            <a:pPr algn="r">
              <a:spcAft>
                <a:spcPts val="500"/>
              </a:spcAft>
              <a:defRPr sz="900" b="1" i="0">
                <a:solidFill>
                  <a:srgbClr val="00B1A9"/>
                </a:solidFill>
                <a:latin typeface="Aptos"/>
              </a:defRPr>
            </a:pPr>
            <a:r>
              <a:t>PSEUDOCODE</a:t>
            </a:r>
          </a:p>
        </p:txBody>
      </p:sp>
      <p:sp>
        <p:nvSpPr>
          <p:cNvPr id="5" name="TextBox 4"/>
          <p:cNvSpPr txBox="1"/>
          <p:nvPr/>
        </p:nvSpPr>
        <p:spPr>
          <a:xfrm>
            <a:off x="10789920" y="6528816"/>
            <a:ext cx="914400" cy="164592"/>
          </a:xfrm>
          <a:prstGeom prst="rect">
            <a:avLst/>
          </a:prstGeom>
          <a:noFill/>
        </p:spPr>
        <p:txBody>
          <a:bodyPr wrap="square" lIns="54864" tIns="54864" rIns="54864" bIns="54864" anchor="t">
            <a:spAutoFit/>
          </a:bodyPr>
          <a:lstStyle/>
          <a:p>
            <a:pPr algn="r">
              <a:spcAft>
                <a:spcPts val="500"/>
              </a:spcAft>
              <a:defRPr sz="800" b="0" i="0">
                <a:solidFill>
                  <a:srgbClr val="5E7082"/>
                </a:solidFill>
                <a:latin typeface="Aptos"/>
              </a:defRPr>
            </a:pPr>
            <a:r>
              <a:t>07  /  14</a:t>
            </a:r>
          </a:p>
        </p:txBody>
      </p:sp>
      <p:sp>
        <p:nvSpPr>
          <p:cNvPr id="6" name="Rounded Rectangle 5"/>
          <p:cNvSpPr/>
          <p:nvPr/>
        </p:nvSpPr>
        <p:spPr>
          <a:xfrm>
            <a:off x="685800" y="1234440"/>
            <a:ext cx="6858000" cy="5074920"/>
          </a:xfrm>
          <a:prstGeom prst="roundRect">
            <a:avLst/>
          </a:prstGeom>
          <a:solidFill>
            <a:srgbClr val="0F2340"/>
          </a:solidFill>
          <a:ln>
            <a:solidFill>
              <a:srgbClr val="0F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508760"/>
            <a:ext cx="6355080" cy="4480560"/>
          </a:xfrm>
          <a:prstGeom prst="rect">
            <a:avLst/>
          </a:prstGeom>
          <a:noFill/>
        </p:spPr>
        <p:txBody>
          <a:bodyPr wrap="square" lIns="54864" tIns="54864" rIns="54864" bIns="54864" anchor="t">
            <a:spAutoFit/>
          </a:bodyPr>
          <a:lstStyle/>
          <a:p>
            <a:pPr algn="l">
              <a:spcAft>
                <a:spcPts val="500"/>
              </a:spcAft>
              <a:defRPr sz="1500" b="0" i="0">
                <a:solidFill>
                  <a:srgbClr val="FFFFFF"/>
                </a:solidFill>
                <a:latin typeface="Consolas"/>
              </a:defRPr>
            </a:pPr>
            <a:r>
              <a:t>for c = 0 to W:</a:t>
            </a:r>
          </a:p>
          <a:p>
            <a:pPr algn="l">
              <a:spcAft>
                <a:spcPts val="500"/>
              </a:spcAft>
              <a:defRPr sz="1500" b="0" i="0">
                <a:solidFill>
                  <a:srgbClr val="FFFFFF"/>
                </a:solidFill>
                <a:latin typeface="Consolas"/>
              </a:defRPr>
            </a:pPr>
            <a:r>
              <a:t>    DP[0][c] = 0</a:t>
            </a:r>
          </a:p>
          <a:p>
            <a:pPr algn="l">
              <a:spcAft>
                <a:spcPts val="500"/>
              </a:spcAft>
              <a:defRPr sz="1500" b="0" i="0">
                <a:solidFill>
                  <a:srgbClr val="FFFFFF"/>
                </a:solidFill>
                <a:latin typeface="Consolas"/>
              </a:defRPr>
            </a:pPr>
            <a:endParaRPr/>
          </a:p>
          <a:p>
            <a:pPr algn="l">
              <a:spcAft>
                <a:spcPts val="500"/>
              </a:spcAft>
              <a:defRPr sz="1500" b="0" i="0">
                <a:solidFill>
                  <a:srgbClr val="FFFFFF"/>
                </a:solidFill>
                <a:latin typeface="Consolas"/>
              </a:defRPr>
            </a:pPr>
            <a:r>
              <a:t>for i = 1 to n:</a:t>
            </a:r>
          </a:p>
          <a:p>
            <a:pPr algn="l">
              <a:spcAft>
                <a:spcPts val="500"/>
              </a:spcAft>
              <a:defRPr sz="1500" b="0" i="0">
                <a:solidFill>
                  <a:srgbClr val="FFFFFF"/>
                </a:solidFill>
                <a:latin typeface="Consolas"/>
              </a:defRPr>
            </a:pPr>
            <a:r>
              <a:t>    for c = 0 to W:</a:t>
            </a:r>
          </a:p>
          <a:p>
            <a:pPr algn="l">
              <a:spcAft>
                <a:spcPts val="500"/>
              </a:spcAft>
              <a:defRPr sz="1500" b="0" i="0">
                <a:solidFill>
                  <a:srgbClr val="FFFFFF"/>
                </a:solidFill>
                <a:latin typeface="Consolas"/>
              </a:defRPr>
            </a:pPr>
            <a:r>
              <a:t>        DP[i][c] = DP[i-1][c]          // skip</a:t>
            </a:r>
          </a:p>
          <a:p>
            <a:pPr algn="l">
              <a:spcAft>
                <a:spcPts val="500"/>
              </a:spcAft>
              <a:defRPr sz="1500" b="0" i="0">
                <a:solidFill>
                  <a:srgbClr val="FFFFFF"/>
                </a:solidFill>
                <a:latin typeface="Consolas"/>
              </a:defRPr>
            </a:pPr>
            <a:r>
              <a:t>        if weight[i] &lt;= c:</a:t>
            </a:r>
          </a:p>
          <a:p>
            <a:pPr algn="l">
              <a:spcAft>
                <a:spcPts val="500"/>
              </a:spcAft>
              <a:defRPr sz="1500" b="0" i="0">
                <a:solidFill>
                  <a:srgbClr val="FFFFFF"/>
                </a:solidFill>
                <a:latin typeface="Consolas"/>
              </a:defRPr>
            </a:pPr>
            <a:r>
              <a:t>            DP[i][c] = max(</a:t>
            </a:r>
          </a:p>
          <a:p>
            <a:pPr algn="l">
              <a:spcAft>
                <a:spcPts val="500"/>
              </a:spcAft>
              <a:defRPr sz="1500" b="0" i="0">
                <a:solidFill>
                  <a:srgbClr val="FFFFFF"/>
                </a:solidFill>
                <a:latin typeface="Consolas"/>
              </a:defRPr>
            </a:pPr>
            <a:r>
              <a:t>                DP[i][c],</a:t>
            </a:r>
          </a:p>
          <a:p>
            <a:pPr algn="l">
              <a:spcAft>
                <a:spcPts val="500"/>
              </a:spcAft>
              <a:defRPr sz="1500" b="0" i="0">
                <a:solidFill>
                  <a:srgbClr val="FFFFFF"/>
                </a:solidFill>
                <a:latin typeface="Consolas"/>
              </a:defRPr>
            </a:pPr>
            <a:r>
              <a:t>                profit[i] + DP[i-1][c-weight[i]]</a:t>
            </a:r>
          </a:p>
          <a:p>
            <a:pPr algn="l">
              <a:spcAft>
                <a:spcPts val="500"/>
              </a:spcAft>
              <a:defRPr sz="1500" b="0" i="0">
                <a:solidFill>
                  <a:srgbClr val="FFFFFF"/>
                </a:solidFill>
                <a:latin typeface="Consolas"/>
              </a:defRPr>
            </a:pPr>
            <a:r>
              <a:t>            )</a:t>
            </a:r>
          </a:p>
          <a:p>
            <a:pPr algn="l">
              <a:spcAft>
                <a:spcPts val="500"/>
              </a:spcAft>
              <a:defRPr sz="1500" b="0" i="0">
                <a:solidFill>
                  <a:srgbClr val="FFFFFF"/>
                </a:solidFill>
                <a:latin typeface="Consolas"/>
              </a:defRPr>
            </a:pPr>
            <a:endParaRPr/>
          </a:p>
          <a:p>
            <a:pPr algn="l">
              <a:spcAft>
                <a:spcPts val="500"/>
              </a:spcAft>
              <a:defRPr sz="1500" b="0" i="0">
                <a:solidFill>
                  <a:srgbClr val="FFFFFF"/>
                </a:solidFill>
                <a:latin typeface="Consolas"/>
              </a:defRPr>
            </a:pPr>
            <a:r>
              <a:t>return DP[n][W]</a:t>
            </a:r>
          </a:p>
        </p:txBody>
      </p:sp>
      <p:sp>
        <p:nvSpPr>
          <p:cNvPr id="8" name="Rounded Rectangle 7"/>
          <p:cNvSpPr/>
          <p:nvPr/>
        </p:nvSpPr>
        <p:spPr>
          <a:xfrm>
            <a:off x="7955279" y="1417320"/>
            <a:ext cx="3429000" cy="105156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955279" y="1417320"/>
            <a:ext cx="73152" cy="1051560"/>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56448" y="1581912"/>
            <a:ext cx="3044952" cy="329184"/>
          </a:xfrm>
          <a:prstGeom prst="rect">
            <a:avLst/>
          </a:prstGeom>
          <a:noFill/>
        </p:spPr>
        <p:txBody>
          <a:bodyPr wrap="square" lIns="54864" tIns="54864" rIns="54864" bIns="54864" anchor="t">
            <a:spAutoFit/>
          </a:bodyPr>
          <a:lstStyle/>
          <a:p>
            <a:pPr algn="l">
              <a:spcAft>
                <a:spcPts val="500"/>
              </a:spcAft>
              <a:defRPr sz="1700" b="1" i="0">
                <a:solidFill>
                  <a:srgbClr val="0F2340"/>
                </a:solidFill>
                <a:latin typeface="Aptos"/>
              </a:defRPr>
            </a:pPr>
            <a:r>
              <a:t>1. Initialize</a:t>
            </a:r>
          </a:p>
        </p:txBody>
      </p:sp>
      <p:sp>
        <p:nvSpPr>
          <p:cNvPr id="11" name="TextBox 10"/>
          <p:cNvSpPr txBox="1"/>
          <p:nvPr/>
        </p:nvSpPr>
        <p:spPr>
          <a:xfrm>
            <a:off x="8156448" y="2002536"/>
            <a:ext cx="3044952" cy="338327"/>
          </a:xfrm>
          <a:prstGeom prst="rect">
            <a:avLst/>
          </a:prstGeom>
          <a:noFill/>
        </p:spPr>
        <p:txBody>
          <a:bodyPr wrap="square" lIns="54864" tIns="54864" rIns="54864" bIns="54864" anchor="t">
            <a:spAutoFit/>
          </a:bodyPr>
          <a:lstStyle/>
          <a:p>
            <a:pPr algn="l">
              <a:spcAft>
                <a:spcPts val="500"/>
              </a:spcAft>
              <a:defRPr sz="1600" b="0" i="0">
                <a:solidFill>
                  <a:srgbClr val="233141"/>
                </a:solidFill>
                <a:latin typeface="Aptos"/>
              </a:defRPr>
            </a:pPr>
            <a:r>
              <a:t>Zero items give zero profit.</a:t>
            </a:r>
          </a:p>
        </p:txBody>
      </p:sp>
      <p:sp>
        <p:nvSpPr>
          <p:cNvPr id="12" name="Rounded Rectangle 11"/>
          <p:cNvSpPr/>
          <p:nvPr/>
        </p:nvSpPr>
        <p:spPr>
          <a:xfrm>
            <a:off x="7955279" y="2697480"/>
            <a:ext cx="3429000" cy="105156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955279" y="2697480"/>
            <a:ext cx="73152" cy="1051560"/>
          </a:xfrm>
          <a:prstGeom prst="rect">
            <a:avLst/>
          </a:prstGeom>
          <a:solidFill>
            <a:srgbClr val="FFBE4B"/>
          </a:solidFill>
          <a:ln>
            <a:solidFill>
              <a:srgbClr val="FFBE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56448" y="2862072"/>
            <a:ext cx="3044952" cy="329184"/>
          </a:xfrm>
          <a:prstGeom prst="rect">
            <a:avLst/>
          </a:prstGeom>
          <a:noFill/>
        </p:spPr>
        <p:txBody>
          <a:bodyPr wrap="square" lIns="54864" tIns="54864" rIns="54864" bIns="54864" anchor="t">
            <a:spAutoFit/>
          </a:bodyPr>
          <a:lstStyle/>
          <a:p>
            <a:pPr algn="l">
              <a:spcAft>
                <a:spcPts val="500"/>
              </a:spcAft>
              <a:defRPr sz="1700" b="1" i="0">
                <a:solidFill>
                  <a:srgbClr val="0F2340"/>
                </a:solidFill>
                <a:latin typeface="Aptos"/>
              </a:defRPr>
            </a:pPr>
            <a:r>
              <a:t>2. Iterate</a:t>
            </a:r>
          </a:p>
        </p:txBody>
      </p:sp>
      <p:sp>
        <p:nvSpPr>
          <p:cNvPr id="15" name="TextBox 14"/>
          <p:cNvSpPr txBox="1"/>
          <p:nvPr/>
        </p:nvSpPr>
        <p:spPr>
          <a:xfrm>
            <a:off x="8156448" y="3282696"/>
            <a:ext cx="3044952" cy="338327"/>
          </a:xfrm>
          <a:prstGeom prst="rect">
            <a:avLst/>
          </a:prstGeom>
          <a:noFill/>
        </p:spPr>
        <p:txBody>
          <a:bodyPr wrap="square" lIns="54864" tIns="54864" rIns="54864" bIns="54864" anchor="t">
            <a:spAutoFit/>
          </a:bodyPr>
          <a:lstStyle/>
          <a:p>
            <a:pPr algn="l">
              <a:spcAft>
                <a:spcPts val="500"/>
              </a:spcAft>
              <a:defRPr sz="1600" b="0" i="0">
                <a:solidFill>
                  <a:srgbClr val="233141"/>
                </a:solidFill>
                <a:latin typeface="Aptos"/>
              </a:defRPr>
            </a:pPr>
            <a:r>
              <a:t>Process each item and every capacity.</a:t>
            </a:r>
          </a:p>
        </p:txBody>
      </p:sp>
      <p:sp>
        <p:nvSpPr>
          <p:cNvPr id="16" name="Rounded Rectangle 15"/>
          <p:cNvSpPr/>
          <p:nvPr/>
        </p:nvSpPr>
        <p:spPr>
          <a:xfrm>
            <a:off x="7955279" y="3977639"/>
            <a:ext cx="3429000" cy="105156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955279" y="3977639"/>
            <a:ext cx="73152" cy="1051560"/>
          </a:xfrm>
          <a:prstGeom prst="rect">
            <a:avLst/>
          </a:prstGeom>
          <a:solidFill>
            <a:srgbClr val="269170"/>
          </a:solidFill>
          <a:ln>
            <a:solidFill>
              <a:srgbClr val="2691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56448" y="4142231"/>
            <a:ext cx="3044952" cy="329184"/>
          </a:xfrm>
          <a:prstGeom prst="rect">
            <a:avLst/>
          </a:prstGeom>
          <a:noFill/>
        </p:spPr>
        <p:txBody>
          <a:bodyPr wrap="square" lIns="54864" tIns="54864" rIns="54864" bIns="54864" anchor="t">
            <a:spAutoFit/>
          </a:bodyPr>
          <a:lstStyle/>
          <a:p>
            <a:pPr algn="l">
              <a:spcAft>
                <a:spcPts val="500"/>
              </a:spcAft>
              <a:defRPr sz="1700" b="1" i="0">
                <a:solidFill>
                  <a:srgbClr val="0F2340"/>
                </a:solidFill>
                <a:latin typeface="Aptos"/>
              </a:defRPr>
            </a:pPr>
            <a:r>
              <a:t>3. Return</a:t>
            </a:r>
          </a:p>
        </p:txBody>
      </p:sp>
      <p:sp>
        <p:nvSpPr>
          <p:cNvPr id="19" name="TextBox 18"/>
          <p:cNvSpPr txBox="1"/>
          <p:nvPr/>
        </p:nvSpPr>
        <p:spPr>
          <a:xfrm>
            <a:off x="8156448" y="4562855"/>
            <a:ext cx="3044952" cy="338327"/>
          </a:xfrm>
          <a:prstGeom prst="rect">
            <a:avLst/>
          </a:prstGeom>
          <a:noFill/>
        </p:spPr>
        <p:txBody>
          <a:bodyPr wrap="square" lIns="54864" tIns="54864" rIns="54864" bIns="54864" anchor="t">
            <a:spAutoFit/>
          </a:bodyPr>
          <a:lstStyle/>
          <a:p>
            <a:pPr algn="l">
              <a:spcAft>
                <a:spcPts val="500"/>
              </a:spcAft>
              <a:defRPr sz="1600" b="0" i="0">
                <a:solidFill>
                  <a:srgbClr val="233141"/>
                </a:solidFill>
                <a:latin typeface="Aptos"/>
              </a:defRPr>
            </a:pPr>
            <a:r>
              <a:t>DP[n][W] is the maximum profit.</a:t>
            </a:r>
          </a:p>
        </p:txBody>
      </p:sp>
      <p:sp>
        <p:nvSpPr>
          <p:cNvPr id="20" name="TextBox 19"/>
          <p:cNvSpPr txBox="1"/>
          <p:nvPr/>
        </p:nvSpPr>
        <p:spPr>
          <a:xfrm>
            <a:off x="8001000" y="5486400"/>
            <a:ext cx="3474720" cy="411480"/>
          </a:xfrm>
          <a:prstGeom prst="rect">
            <a:avLst/>
          </a:prstGeom>
          <a:noFill/>
        </p:spPr>
        <p:txBody>
          <a:bodyPr wrap="square" lIns="54864" tIns="54864" rIns="54864" bIns="54864" anchor="t">
            <a:spAutoFit/>
          </a:bodyPr>
          <a:lstStyle/>
          <a:p>
            <a:pPr algn="ctr">
              <a:spcAft>
                <a:spcPts val="500"/>
              </a:spcAft>
              <a:defRPr sz="1600" b="1" i="0">
                <a:solidFill>
                  <a:srgbClr val="00B1A9"/>
                </a:solidFill>
                <a:latin typeface="Aptos"/>
              </a:defRPr>
            </a:pPr>
            <a:r>
              <a:t>Time O(nW)  •  Space O(nW)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502920"/>
          </a:xfrm>
          <a:prstGeom prst="rect">
            <a:avLst/>
          </a:prstGeom>
          <a:noFill/>
        </p:spPr>
        <p:txBody>
          <a:bodyPr wrap="square" lIns="54864" tIns="54864" rIns="54864" bIns="54864" anchor="t">
            <a:spAutoFit/>
          </a:bodyPr>
          <a:lstStyle/>
          <a:p>
            <a:pPr algn="l">
              <a:spcAft>
                <a:spcPts val="500"/>
              </a:spcAft>
              <a:defRPr sz="2700" b="1" i="0">
                <a:solidFill>
                  <a:srgbClr val="0F2340"/>
                </a:solidFill>
                <a:latin typeface="Aptos"/>
              </a:defRPr>
            </a:pPr>
            <a:r>
              <a:t>7. Fractional Knapsack: Greedy Strategy</a:t>
            </a:r>
          </a:p>
        </p:txBody>
      </p:sp>
      <p:sp>
        <p:nvSpPr>
          <p:cNvPr id="3" name="Rectangle 2"/>
          <p:cNvSpPr/>
          <p:nvPr/>
        </p:nvSpPr>
        <p:spPr>
          <a:xfrm>
            <a:off x="530352" y="896112"/>
            <a:ext cx="914400" cy="50292"/>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509760" y="347472"/>
            <a:ext cx="2057400" cy="256032"/>
          </a:xfrm>
          <a:prstGeom prst="rect">
            <a:avLst/>
          </a:prstGeom>
          <a:noFill/>
        </p:spPr>
        <p:txBody>
          <a:bodyPr wrap="square" lIns="54864" tIns="54864" rIns="54864" bIns="54864" anchor="t">
            <a:spAutoFit/>
          </a:bodyPr>
          <a:lstStyle/>
          <a:p>
            <a:pPr algn="r">
              <a:spcAft>
                <a:spcPts val="500"/>
              </a:spcAft>
              <a:defRPr sz="900" b="1" i="0">
                <a:solidFill>
                  <a:srgbClr val="00B1A9"/>
                </a:solidFill>
                <a:latin typeface="Aptos"/>
              </a:defRPr>
            </a:pPr>
            <a:r>
              <a:t>GREEDY</a:t>
            </a:r>
          </a:p>
        </p:txBody>
      </p:sp>
      <p:sp>
        <p:nvSpPr>
          <p:cNvPr id="5" name="TextBox 4"/>
          <p:cNvSpPr txBox="1"/>
          <p:nvPr/>
        </p:nvSpPr>
        <p:spPr>
          <a:xfrm>
            <a:off x="10789920" y="6528816"/>
            <a:ext cx="914400" cy="164592"/>
          </a:xfrm>
          <a:prstGeom prst="rect">
            <a:avLst/>
          </a:prstGeom>
          <a:noFill/>
        </p:spPr>
        <p:txBody>
          <a:bodyPr wrap="square" lIns="54864" tIns="54864" rIns="54864" bIns="54864" anchor="t">
            <a:spAutoFit/>
          </a:bodyPr>
          <a:lstStyle/>
          <a:p>
            <a:pPr algn="r">
              <a:spcAft>
                <a:spcPts val="500"/>
              </a:spcAft>
              <a:defRPr sz="800" b="0" i="0">
                <a:solidFill>
                  <a:srgbClr val="5E7082"/>
                </a:solidFill>
                <a:latin typeface="Aptos"/>
              </a:defRPr>
            </a:pPr>
            <a:r>
              <a:t>08  /  14</a:t>
            </a:r>
          </a:p>
        </p:txBody>
      </p:sp>
      <p:sp>
        <p:nvSpPr>
          <p:cNvPr id="6" name="Rounded Rectangle 5"/>
          <p:cNvSpPr/>
          <p:nvPr/>
        </p:nvSpPr>
        <p:spPr>
          <a:xfrm>
            <a:off x="640080" y="1234440"/>
            <a:ext cx="3840480" cy="141732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234440"/>
            <a:ext cx="73152" cy="1417320"/>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399032"/>
            <a:ext cx="3456432" cy="329184"/>
          </a:xfrm>
          <a:prstGeom prst="rect">
            <a:avLst/>
          </a:prstGeom>
          <a:noFill/>
        </p:spPr>
        <p:txBody>
          <a:bodyPr wrap="square" lIns="54864" tIns="54864" rIns="54864" bIns="54864" anchor="t">
            <a:spAutoFit/>
          </a:bodyPr>
          <a:lstStyle/>
          <a:p>
            <a:pPr algn="l">
              <a:spcAft>
                <a:spcPts val="500"/>
              </a:spcAft>
              <a:defRPr sz="1700" b="1" i="0">
                <a:solidFill>
                  <a:srgbClr val="0F2340"/>
                </a:solidFill>
                <a:latin typeface="Aptos"/>
              </a:defRPr>
            </a:pPr>
            <a:r>
              <a:t>Greedy rule</a:t>
            </a:r>
          </a:p>
        </p:txBody>
      </p:sp>
      <p:sp>
        <p:nvSpPr>
          <p:cNvPr id="9" name="TextBox 8"/>
          <p:cNvSpPr txBox="1"/>
          <p:nvPr/>
        </p:nvSpPr>
        <p:spPr>
          <a:xfrm>
            <a:off x="841247" y="1819656"/>
            <a:ext cx="3456432" cy="704088"/>
          </a:xfrm>
          <a:prstGeom prst="rect">
            <a:avLst/>
          </a:prstGeom>
          <a:noFill/>
        </p:spPr>
        <p:txBody>
          <a:bodyPr wrap="square" lIns="54864" tIns="54864" rIns="54864" bIns="54864" anchor="t">
            <a:spAutoFit/>
          </a:bodyPr>
          <a:lstStyle/>
          <a:p>
            <a:pPr algn="l">
              <a:spcAft>
                <a:spcPts val="500"/>
              </a:spcAft>
              <a:defRPr sz="1600" b="0" i="0">
                <a:solidFill>
                  <a:srgbClr val="233141"/>
                </a:solidFill>
                <a:latin typeface="Aptos"/>
              </a:defRPr>
            </a:pPr>
            <a:r>
              <a:t>Choose the available item with the highest profit-to-weight ratio pᵢ / wᵢ first.</a:t>
            </a:r>
          </a:p>
        </p:txBody>
      </p:sp>
      <p:sp>
        <p:nvSpPr>
          <p:cNvPr id="10" name="Rounded Rectangle 9"/>
          <p:cNvSpPr/>
          <p:nvPr/>
        </p:nvSpPr>
        <p:spPr>
          <a:xfrm>
            <a:off x="640080" y="2880360"/>
            <a:ext cx="3840480" cy="141732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2880360"/>
            <a:ext cx="73152" cy="1417320"/>
          </a:xfrm>
          <a:prstGeom prst="rect">
            <a:avLst/>
          </a:prstGeom>
          <a:solidFill>
            <a:srgbClr val="FFBE4B"/>
          </a:solidFill>
          <a:ln>
            <a:solidFill>
              <a:srgbClr val="FFBE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7" y="3044952"/>
            <a:ext cx="3456432" cy="329184"/>
          </a:xfrm>
          <a:prstGeom prst="rect">
            <a:avLst/>
          </a:prstGeom>
          <a:noFill/>
        </p:spPr>
        <p:txBody>
          <a:bodyPr wrap="square" lIns="54864" tIns="54864" rIns="54864" bIns="54864" anchor="t">
            <a:spAutoFit/>
          </a:bodyPr>
          <a:lstStyle/>
          <a:p>
            <a:pPr algn="l">
              <a:spcAft>
                <a:spcPts val="500"/>
              </a:spcAft>
              <a:defRPr sz="1700" b="1" i="0">
                <a:solidFill>
                  <a:srgbClr val="0F2340"/>
                </a:solidFill>
                <a:latin typeface="Aptos"/>
              </a:defRPr>
            </a:pPr>
            <a:r>
              <a:t>Why it works here</a:t>
            </a:r>
          </a:p>
        </p:txBody>
      </p:sp>
      <p:sp>
        <p:nvSpPr>
          <p:cNvPr id="13" name="TextBox 12"/>
          <p:cNvSpPr txBox="1"/>
          <p:nvPr/>
        </p:nvSpPr>
        <p:spPr>
          <a:xfrm>
            <a:off x="841247" y="3465576"/>
            <a:ext cx="3456432" cy="704088"/>
          </a:xfrm>
          <a:prstGeom prst="rect">
            <a:avLst/>
          </a:prstGeom>
          <a:noFill/>
        </p:spPr>
        <p:txBody>
          <a:bodyPr wrap="square" lIns="54864" tIns="54864" rIns="54864" bIns="54864" anchor="t">
            <a:spAutoFit/>
          </a:bodyPr>
          <a:lstStyle/>
          <a:p>
            <a:pPr algn="l">
              <a:spcAft>
                <a:spcPts val="500"/>
              </a:spcAft>
              <a:defRPr sz="1600" b="0" i="0">
                <a:solidFill>
                  <a:srgbClr val="233141"/>
                </a:solidFill>
                <a:latin typeface="Aptos"/>
              </a:defRPr>
            </a:pPr>
            <a:r>
              <a:t>Because items can be split, taking the best value per unit weight first is optimal.</a:t>
            </a:r>
          </a:p>
        </p:txBody>
      </p:sp>
      <p:sp>
        <p:nvSpPr>
          <p:cNvPr id="14" name="TextBox 13"/>
          <p:cNvSpPr txBox="1"/>
          <p:nvPr/>
        </p:nvSpPr>
        <p:spPr>
          <a:xfrm>
            <a:off x="4892040" y="1325880"/>
            <a:ext cx="6126480" cy="320040"/>
          </a:xfrm>
          <a:prstGeom prst="rect">
            <a:avLst/>
          </a:prstGeom>
          <a:noFill/>
        </p:spPr>
        <p:txBody>
          <a:bodyPr wrap="square" lIns="54864" tIns="54864" rIns="54864" bIns="54864" anchor="t">
            <a:spAutoFit/>
          </a:bodyPr>
          <a:lstStyle/>
          <a:p>
            <a:pPr algn="l">
              <a:spcAft>
                <a:spcPts val="500"/>
              </a:spcAft>
              <a:defRPr sz="1300" b="1" i="0">
                <a:solidFill>
                  <a:srgbClr val="00B1A9"/>
                </a:solidFill>
                <a:latin typeface="Aptos"/>
              </a:defRPr>
            </a:pPr>
            <a:r>
              <a:t>FILL THE BAG BY VALUE DENSITY</a:t>
            </a:r>
          </a:p>
        </p:txBody>
      </p:sp>
      <p:sp>
        <p:nvSpPr>
          <p:cNvPr id="15" name="Rounded Rectangle 14"/>
          <p:cNvSpPr/>
          <p:nvPr/>
        </p:nvSpPr>
        <p:spPr>
          <a:xfrm>
            <a:off x="6720840" y="1965960"/>
            <a:ext cx="2514600" cy="2926080"/>
          </a:xfrm>
          <a:prstGeom prst="roundRect">
            <a:avLst/>
          </a:prstGeom>
          <a:solidFill>
            <a:srgbClr val="163452"/>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903720" y="3429000"/>
            <a:ext cx="2148840" cy="1261872"/>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903720" y="2788920"/>
            <a:ext cx="2148840" cy="640080"/>
          </a:xfrm>
          <a:prstGeom prst="rect">
            <a:avLst/>
          </a:prstGeom>
          <a:solidFill>
            <a:srgbClr val="FFBE4B"/>
          </a:solidFill>
          <a:ln>
            <a:solidFill>
              <a:srgbClr val="FFBE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903720" y="2194560"/>
            <a:ext cx="1097280" cy="594360"/>
          </a:xfrm>
          <a:prstGeom prst="rect">
            <a:avLst/>
          </a:prstGeom>
          <a:solidFill>
            <a:srgbClr val="E2574C"/>
          </a:solidFill>
          <a:ln>
            <a:solidFill>
              <a:srgbClr val="E25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59168" y="3794760"/>
            <a:ext cx="1828800" cy="274320"/>
          </a:xfrm>
          <a:prstGeom prst="rect">
            <a:avLst/>
          </a:prstGeom>
          <a:noFill/>
        </p:spPr>
        <p:txBody>
          <a:bodyPr wrap="square" lIns="54864" tIns="54864" rIns="54864" bIns="54864" anchor="t">
            <a:spAutoFit/>
          </a:bodyPr>
          <a:lstStyle/>
          <a:p>
            <a:pPr algn="ctr">
              <a:spcAft>
                <a:spcPts val="500"/>
              </a:spcAft>
              <a:defRPr sz="1500" b="1" i="0">
                <a:solidFill>
                  <a:srgbClr val="FFFFFF"/>
                </a:solidFill>
                <a:latin typeface="Aptos"/>
              </a:defRPr>
            </a:pPr>
            <a:r>
              <a:t>FULL</a:t>
            </a:r>
          </a:p>
        </p:txBody>
      </p:sp>
      <p:sp>
        <p:nvSpPr>
          <p:cNvPr id="20" name="TextBox 19"/>
          <p:cNvSpPr txBox="1"/>
          <p:nvPr/>
        </p:nvSpPr>
        <p:spPr>
          <a:xfrm>
            <a:off x="7059168" y="2971800"/>
            <a:ext cx="1828800" cy="228600"/>
          </a:xfrm>
          <a:prstGeom prst="rect">
            <a:avLst/>
          </a:prstGeom>
          <a:noFill/>
        </p:spPr>
        <p:txBody>
          <a:bodyPr wrap="square" lIns="54864" tIns="54864" rIns="54864" bIns="54864" anchor="t">
            <a:spAutoFit/>
          </a:bodyPr>
          <a:lstStyle/>
          <a:p>
            <a:pPr algn="ctr">
              <a:spcAft>
                <a:spcPts val="500"/>
              </a:spcAft>
              <a:defRPr sz="1200" b="1" i="0">
                <a:solidFill>
                  <a:srgbClr val="0F2340"/>
                </a:solidFill>
                <a:latin typeface="Aptos"/>
              </a:defRPr>
            </a:pPr>
            <a:r>
              <a:t>FULL</a:t>
            </a:r>
          </a:p>
        </p:txBody>
      </p:sp>
      <p:sp>
        <p:nvSpPr>
          <p:cNvPr id="21" name="TextBox 20"/>
          <p:cNvSpPr txBox="1"/>
          <p:nvPr/>
        </p:nvSpPr>
        <p:spPr>
          <a:xfrm>
            <a:off x="6931152" y="2359152"/>
            <a:ext cx="1051560" cy="228600"/>
          </a:xfrm>
          <a:prstGeom prst="rect">
            <a:avLst/>
          </a:prstGeom>
          <a:noFill/>
        </p:spPr>
        <p:txBody>
          <a:bodyPr wrap="square" lIns="54864" tIns="54864" rIns="54864" bIns="54864" anchor="t">
            <a:spAutoFit/>
          </a:bodyPr>
          <a:lstStyle/>
          <a:p>
            <a:pPr algn="ctr">
              <a:spcAft>
                <a:spcPts val="500"/>
              </a:spcAft>
              <a:defRPr sz="1000" b="1" i="0">
                <a:solidFill>
                  <a:srgbClr val="FFFFFF"/>
                </a:solidFill>
                <a:latin typeface="Aptos"/>
              </a:defRPr>
            </a:pPr>
            <a:r>
              <a:t>½ ITEM</a:t>
            </a:r>
          </a:p>
        </p:txBody>
      </p:sp>
      <p:sp>
        <p:nvSpPr>
          <p:cNvPr id="22" name="TextBox 21"/>
          <p:cNvSpPr txBox="1"/>
          <p:nvPr/>
        </p:nvSpPr>
        <p:spPr>
          <a:xfrm>
            <a:off x="4983480" y="5303520"/>
            <a:ext cx="6126480" cy="457200"/>
          </a:xfrm>
          <a:prstGeom prst="rect">
            <a:avLst/>
          </a:prstGeom>
          <a:noFill/>
        </p:spPr>
        <p:txBody>
          <a:bodyPr wrap="square" lIns="54864" tIns="54864" rIns="54864" bIns="54864" anchor="t">
            <a:spAutoFit/>
          </a:bodyPr>
          <a:lstStyle/>
          <a:p>
            <a:pPr algn="ctr">
              <a:spcAft>
                <a:spcPts val="500"/>
              </a:spcAft>
              <a:defRPr sz="1600" b="0" i="0">
                <a:solidFill>
                  <a:srgbClr val="233141"/>
                </a:solidFill>
                <a:latin typeface="Aptos"/>
              </a:defRPr>
            </a:pPr>
            <a:r>
              <a:t>Take whole items first, then a fraction if needed.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502920"/>
          </a:xfrm>
          <a:prstGeom prst="rect">
            <a:avLst/>
          </a:prstGeom>
          <a:noFill/>
        </p:spPr>
        <p:txBody>
          <a:bodyPr wrap="square" lIns="54864" tIns="54864" rIns="54864" bIns="54864" anchor="t">
            <a:spAutoFit/>
          </a:bodyPr>
          <a:lstStyle/>
          <a:p>
            <a:pPr algn="l">
              <a:spcAft>
                <a:spcPts val="500"/>
              </a:spcAft>
              <a:defRPr sz="2700" b="1" i="0">
                <a:solidFill>
                  <a:srgbClr val="0F2340"/>
                </a:solidFill>
                <a:latin typeface="Aptos"/>
              </a:defRPr>
            </a:pPr>
            <a:r>
              <a:t>8. Fractional Greedy Algorithm &amp; Example</a:t>
            </a:r>
          </a:p>
        </p:txBody>
      </p:sp>
      <p:sp>
        <p:nvSpPr>
          <p:cNvPr id="3" name="Rectangle 2"/>
          <p:cNvSpPr/>
          <p:nvPr/>
        </p:nvSpPr>
        <p:spPr>
          <a:xfrm>
            <a:off x="530352" y="896112"/>
            <a:ext cx="914400" cy="50292"/>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509760" y="347472"/>
            <a:ext cx="2057400" cy="256032"/>
          </a:xfrm>
          <a:prstGeom prst="rect">
            <a:avLst/>
          </a:prstGeom>
          <a:noFill/>
        </p:spPr>
        <p:txBody>
          <a:bodyPr wrap="square" lIns="54864" tIns="54864" rIns="54864" bIns="54864" anchor="t">
            <a:spAutoFit/>
          </a:bodyPr>
          <a:lstStyle/>
          <a:p>
            <a:pPr algn="r">
              <a:spcAft>
                <a:spcPts val="500"/>
              </a:spcAft>
              <a:defRPr sz="900" b="1" i="0">
                <a:solidFill>
                  <a:srgbClr val="00B1A9"/>
                </a:solidFill>
                <a:latin typeface="Aptos"/>
              </a:defRPr>
            </a:pPr>
            <a:r>
              <a:t>WORKED EXAMPLE</a:t>
            </a:r>
          </a:p>
        </p:txBody>
      </p:sp>
      <p:sp>
        <p:nvSpPr>
          <p:cNvPr id="5" name="TextBox 4"/>
          <p:cNvSpPr txBox="1"/>
          <p:nvPr/>
        </p:nvSpPr>
        <p:spPr>
          <a:xfrm>
            <a:off x="10789920" y="6528816"/>
            <a:ext cx="914400" cy="164592"/>
          </a:xfrm>
          <a:prstGeom prst="rect">
            <a:avLst/>
          </a:prstGeom>
          <a:noFill/>
        </p:spPr>
        <p:txBody>
          <a:bodyPr wrap="square" lIns="54864" tIns="54864" rIns="54864" bIns="54864" anchor="t">
            <a:spAutoFit/>
          </a:bodyPr>
          <a:lstStyle/>
          <a:p>
            <a:pPr algn="r">
              <a:spcAft>
                <a:spcPts val="500"/>
              </a:spcAft>
              <a:defRPr sz="800" b="0" i="0">
                <a:solidFill>
                  <a:srgbClr val="5E7082"/>
                </a:solidFill>
                <a:latin typeface="Aptos"/>
              </a:defRPr>
            </a:pPr>
            <a:r>
              <a:t>09  /  14</a:t>
            </a:r>
          </a:p>
        </p:txBody>
      </p:sp>
      <p:sp>
        <p:nvSpPr>
          <p:cNvPr id="6" name="TextBox 5"/>
          <p:cNvSpPr txBox="1"/>
          <p:nvPr/>
        </p:nvSpPr>
        <p:spPr>
          <a:xfrm>
            <a:off x="640080" y="1078992"/>
            <a:ext cx="10972800" cy="365760"/>
          </a:xfrm>
          <a:prstGeom prst="rect">
            <a:avLst/>
          </a:prstGeom>
          <a:noFill/>
        </p:spPr>
        <p:txBody>
          <a:bodyPr wrap="square" lIns="54864" tIns="54864" rIns="54864" bIns="54864" anchor="t">
            <a:spAutoFit/>
          </a:bodyPr>
          <a:lstStyle/>
          <a:p>
            <a:pPr algn="l">
              <a:spcAft>
                <a:spcPts val="500"/>
              </a:spcAft>
              <a:defRPr sz="1500" b="1" i="0">
                <a:solidFill>
                  <a:srgbClr val="233141"/>
                </a:solidFill>
                <a:latin typeface="Aptos"/>
              </a:defRPr>
            </a:pPr>
            <a:r>
              <a:t>Example: Capacity W = 50; items (weight, profit): A (10, 60), B (20, 100), C (30, 120)</a:t>
            </a:r>
          </a:p>
        </p:txBody>
      </p:sp>
      <p:graphicFrame>
        <p:nvGraphicFramePr>
          <p:cNvPr id="7" name="Table 6"/>
          <p:cNvGraphicFramePr>
            <a:graphicFrameLocks noGrp="1"/>
          </p:cNvGraphicFramePr>
          <p:nvPr/>
        </p:nvGraphicFramePr>
        <p:xfrm>
          <a:off x="731520" y="1645920"/>
          <a:ext cx="6492240" cy="214884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537210">
                <a:tc>
                  <a:txBody>
                    <a:bodyPr/>
                    <a:lstStyle/>
                    <a:p>
                      <a:pPr algn="ctr">
                        <a:defRPr sz="1200" b="1">
                          <a:solidFill>
                            <a:srgbClr val="FFFFFF"/>
                          </a:solidFill>
                          <a:latin typeface="Aptos"/>
                        </a:defRPr>
                      </a:pPr>
                      <a:r>
                        <a:t>Item</a:t>
                      </a:r>
                    </a:p>
                  </a:txBody>
                  <a:tcPr>
                    <a:solidFill>
                      <a:srgbClr val="0F2340"/>
                    </a:solidFill>
                  </a:tcPr>
                </a:tc>
                <a:tc>
                  <a:txBody>
                    <a:bodyPr/>
                    <a:lstStyle/>
                    <a:p>
                      <a:pPr algn="ctr">
                        <a:defRPr sz="1200" b="1">
                          <a:solidFill>
                            <a:srgbClr val="FFFFFF"/>
                          </a:solidFill>
                          <a:latin typeface="Aptos"/>
                        </a:defRPr>
                      </a:pPr>
                      <a:r>
                        <a:t>Weight</a:t>
                      </a:r>
                    </a:p>
                  </a:txBody>
                  <a:tcPr>
                    <a:solidFill>
                      <a:srgbClr val="0F2340"/>
                    </a:solidFill>
                  </a:tcPr>
                </a:tc>
                <a:tc>
                  <a:txBody>
                    <a:bodyPr/>
                    <a:lstStyle/>
                    <a:p>
                      <a:pPr algn="ctr">
                        <a:defRPr sz="1200" b="1">
                          <a:solidFill>
                            <a:srgbClr val="FFFFFF"/>
                          </a:solidFill>
                          <a:latin typeface="Aptos"/>
                        </a:defRPr>
                      </a:pPr>
                      <a:r>
                        <a:t>Profit</a:t>
                      </a:r>
                    </a:p>
                  </a:txBody>
                  <a:tcPr>
                    <a:solidFill>
                      <a:srgbClr val="0F2340"/>
                    </a:solidFill>
                  </a:tcPr>
                </a:tc>
                <a:tc>
                  <a:txBody>
                    <a:bodyPr/>
                    <a:lstStyle/>
                    <a:p>
                      <a:pPr algn="ctr">
                        <a:defRPr sz="1200" b="1">
                          <a:solidFill>
                            <a:srgbClr val="FFFFFF"/>
                          </a:solidFill>
                          <a:latin typeface="Aptos"/>
                        </a:defRPr>
                      </a:pPr>
                      <a:r>
                        <a:t>Ratio p/w</a:t>
                      </a:r>
                    </a:p>
                  </a:txBody>
                  <a:tcPr>
                    <a:solidFill>
                      <a:srgbClr val="0F2340"/>
                    </a:solidFill>
                  </a:tcPr>
                </a:tc>
                <a:tc>
                  <a:txBody>
                    <a:bodyPr/>
                    <a:lstStyle/>
                    <a:p>
                      <a:pPr algn="ctr">
                        <a:defRPr sz="1200" b="1">
                          <a:solidFill>
                            <a:srgbClr val="FFFFFF"/>
                          </a:solidFill>
                          <a:latin typeface="Aptos"/>
                        </a:defRPr>
                      </a:pPr>
                      <a:r>
                        <a:t>Sorted rank</a:t>
                      </a:r>
                    </a:p>
                  </a:txBody>
                  <a:tcPr>
                    <a:solidFill>
                      <a:srgbClr val="0F2340"/>
                    </a:solidFill>
                  </a:tcPr>
                </a:tc>
                <a:extLst>
                  <a:ext uri="{0D108BD9-81ED-4DB2-BD59-A6C34878D82A}">
                    <a16:rowId xmlns:a16="http://schemas.microsoft.com/office/drawing/2014/main" val="10000"/>
                  </a:ext>
                </a:extLst>
              </a:tr>
              <a:tr h="537210">
                <a:tc>
                  <a:txBody>
                    <a:bodyPr/>
                    <a:lstStyle/>
                    <a:p>
                      <a:pPr algn="ctr">
                        <a:defRPr sz="1200" b="1">
                          <a:solidFill>
                            <a:srgbClr val="233141"/>
                          </a:solidFill>
                          <a:latin typeface="Aptos"/>
                        </a:defRPr>
                      </a:pPr>
                      <a:r>
                        <a:t>A</a:t>
                      </a:r>
                    </a:p>
                  </a:txBody>
                  <a:tcPr>
                    <a:solidFill>
                      <a:srgbClr val="BEF4EE"/>
                    </a:solidFill>
                  </a:tcPr>
                </a:tc>
                <a:tc>
                  <a:txBody>
                    <a:bodyPr/>
                    <a:lstStyle/>
                    <a:p>
                      <a:pPr algn="ctr">
                        <a:defRPr sz="1200" b="0">
                          <a:solidFill>
                            <a:srgbClr val="233141"/>
                          </a:solidFill>
                          <a:latin typeface="Aptos"/>
                        </a:defRPr>
                      </a:pPr>
                      <a:r>
                        <a:t>10</a:t>
                      </a:r>
                    </a:p>
                  </a:txBody>
                  <a:tcPr>
                    <a:solidFill>
                      <a:srgbClr val="BEF4EE"/>
                    </a:solidFill>
                  </a:tcPr>
                </a:tc>
                <a:tc>
                  <a:txBody>
                    <a:bodyPr/>
                    <a:lstStyle/>
                    <a:p>
                      <a:pPr algn="ctr">
                        <a:defRPr sz="1200" b="0">
                          <a:solidFill>
                            <a:srgbClr val="233141"/>
                          </a:solidFill>
                          <a:latin typeface="Aptos"/>
                        </a:defRPr>
                      </a:pPr>
                      <a:r>
                        <a:t>60</a:t>
                      </a:r>
                    </a:p>
                  </a:txBody>
                  <a:tcPr>
                    <a:solidFill>
                      <a:srgbClr val="BEF4EE"/>
                    </a:solidFill>
                  </a:tcPr>
                </a:tc>
                <a:tc>
                  <a:txBody>
                    <a:bodyPr/>
                    <a:lstStyle/>
                    <a:p>
                      <a:pPr algn="ctr">
                        <a:defRPr sz="1200" b="0">
                          <a:solidFill>
                            <a:srgbClr val="233141"/>
                          </a:solidFill>
                          <a:latin typeface="Aptos"/>
                        </a:defRPr>
                      </a:pPr>
                      <a:r>
                        <a:t>6.0</a:t>
                      </a:r>
                    </a:p>
                  </a:txBody>
                  <a:tcPr>
                    <a:solidFill>
                      <a:srgbClr val="BEF4EE"/>
                    </a:solidFill>
                  </a:tcPr>
                </a:tc>
                <a:tc>
                  <a:txBody>
                    <a:bodyPr/>
                    <a:lstStyle/>
                    <a:p>
                      <a:pPr algn="ctr">
                        <a:defRPr sz="1200" b="0">
                          <a:solidFill>
                            <a:srgbClr val="233141"/>
                          </a:solidFill>
                          <a:latin typeface="Aptos"/>
                        </a:defRPr>
                      </a:pPr>
                      <a:r>
                        <a:t>1</a:t>
                      </a:r>
                    </a:p>
                  </a:txBody>
                  <a:tcPr>
                    <a:solidFill>
                      <a:srgbClr val="BEF4EE"/>
                    </a:solidFill>
                  </a:tcPr>
                </a:tc>
                <a:extLst>
                  <a:ext uri="{0D108BD9-81ED-4DB2-BD59-A6C34878D82A}">
                    <a16:rowId xmlns:a16="http://schemas.microsoft.com/office/drawing/2014/main" val="10001"/>
                  </a:ext>
                </a:extLst>
              </a:tr>
              <a:tr h="537210">
                <a:tc>
                  <a:txBody>
                    <a:bodyPr/>
                    <a:lstStyle/>
                    <a:p>
                      <a:pPr algn="ctr">
                        <a:defRPr sz="1200" b="1">
                          <a:solidFill>
                            <a:srgbClr val="233141"/>
                          </a:solidFill>
                          <a:latin typeface="Aptos"/>
                        </a:defRPr>
                      </a:pPr>
                      <a:r>
                        <a:t>B</a:t>
                      </a:r>
                    </a:p>
                  </a:txBody>
                  <a:tcPr>
                    <a:solidFill>
                      <a:srgbClr val="FFFFFF"/>
                    </a:solidFill>
                  </a:tcPr>
                </a:tc>
                <a:tc>
                  <a:txBody>
                    <a:bodyPr/>
                    <a:lstStyle/>
                    <a:p>
                      <a:pPr algn="ctr">
                        <a:defRPr sz="1200" b="0">
                          <a:solidFill>
                            <a:srgbClr val="233141"/>
                          </a:solidFill>
                          <a:latin typeface="Aptos"/>
                        </a:defRPr>
                      </a:pPr>
                      <a:r>
                        <a:t>20</a:t>
                      </a:r>
                    </a:p>
                  </a:txBody>
                  <a:tcPr>
                    <a:solidFill>
                      <a:srgbClr val="FFFFFF"/>
                    </a:solidFill>
                  </a:tcPr>
                </a:tc>
                <a:tc>
                  <a:txBody>
                    <a:bodyPr/>
                    <a:lstStyle/>
                    <a:p>
                      <a:pPr algn="ctr">
                        <a:defRPr sz="1200" b="0">
                          <a:solidFill>
                            <a:srgbClr val="233141"/>
                          </a:solidFill>
                          <a:latin typeface="Aptos"/>
                        </a:defRPr>
                      </a:pPr>
                      <a:r>
                        <a:t>100</a:t>
                      </a:r>
                    </a:p>
                  </a:txBody>
                  <a:tcPr>
                    <a:solidFill>
                      <a:srgbClr val="FFFFFF"/>
                    </a:solidFill>
                  </a:tcPr>
                </a:tc>
                <a:tc>
                  <a:txBody>
                    <a:bodyPr/>
                    <a:lstStyle/>
                    <a:p>
                      <a:pPr algn="ctr">
                        <a:defRPr sz="1200" b="0">
                          <a:solidFill>
                            <a:srgbClr val="233141"/>
                          </a:solidFill>
                          <a:latin typeface="Aptos"/>
                        </a:defRPr>
                      </a:pPr>
                      <a:r>
                        <a:t>5.0</a:t>
                      </a:r>
                    </a:p>
                  </a:txBody>
                  <a:tcPr>
                    <a:solidFill>
                      <a:srgbClr val="FFFFFF"/>
                    </a:solidFill>
                  </a:tcPr>
                </a:tc>
                <a:tc>
                  <a:txBody>
                    <a:bodyPr/>
                    <a:lstStyle/>
                    <a:p>
                      <a:pPr algn="ctr">
                        <a:defRPr sz="1200" b="0">
                          <a:solidFill>
                            <a:srgbClr val="233141"/>
                          </a:solidFill>
                          <a:latin typeface="Aptos"/>
                        </a:defRPr>
                      </a:pPr>
                      <a:r>
                        <a:t>2</a:t>
                      </a:r>
                    </a:p>
                  </a:txBody>
                  <a:tcPr>
                    <a:solidFill>
                      <a:srgbClr val="FFFFFF"/>
                    </a:solidFill>
                  </a:tcPr>
                </a:tc>
                <a:extLst>
                  <a:ext uri="{0D108BD9-81ED-4DB2-BD59-A6C34878D82A}">
                    <a16:rowId xmlns:a16="http://schemas.microsoft.com/office/drawing/2014/main" val="10002"/>
                  </a:ext>
                </a:extLst>
              </a:tr>
              <a:tr h="537210">
                <a:tc>
                  <a:txBody>
                    <a:bodyPr/>
                    <a:lstStyle/>
                    <a:p>
                      <a:pPr algn="ctr">
                        <a:defRPr sz="1200" b="1">
                          <a:solidFill>
                            <a:srgbClr val="233141"/>
                          </a:solidFill>
                          <a:latin typeface="Aptos"/>
                        </a:defRPr>
                      </a:pPr>
                      <a:r>
                        <a:t>C</a:t>
                      </a:r>
                    </a:p>
                  </a:txBody>
                  <a:tcPr>
                    <a:solidFill>
                      <a:srgbClr val="FFFFFF"/>
                    </a:solidFill>
                  </a:tcPr>
                </a:tc>
                <a:tc>
                  <a:txBody>
                    <a:bodyPr/>
                    <a:lstStyle/>
                    <a:p>
                      <a:pPr algn="ctr">
                        <a:defRPr sz="1200" b="0">
                          <a:solidFill>
                            <a:srgbClr val="233141"/>
                          </a:solidFill>
                          <a:latin typeface="Aptos"/>
                        </a:defRPr>
                      </a:pPr>
                      <a:r>
                        <a:t>30</a:t>
                      </a:r>
                    </a:p>
                  </a:txBody>
                  <a:tcPr>
                    <a:solidFill>
                      <a:srgbClr val="FFFFFF"/>
                    </a:solidFill>
                  </a:tcPr>
                </a:tc>
                <a:tc>
                  <a:txBody>
                    <a:bodyPr/>
                    <a:lstStyle/>
                    <a:p>
                      <a:pPr algn="ctr">
                        <a:defRPr sz="1200" b="0">
                          <a:solidFill>
                            <a:srgbClr val="233141"/>
                          </a:solidFill>
                          <a:latin typeface="Aptos"/>
                        </a:defRPr>
                      </a:pPr>
                      <a:r>
                        <a:t>120</a:t>
                      </a:r>
                    </a:p>
                  </a:txBody>
                  <a:tcPr>
                    <a:solidFill>
                      <a:srgbClr val="FFFFFF"/>
                    </a:solidFill>
                  </a:tcPr>
                </a:tc>
                <a:tc>
                  <a:txBody>
                    <a:bodyPr/>
                    <a:lstStyle/>
                    <a:p>
                      <a:pPr algn="ctr">
                        <a:defRPr sz="1200" b="0">
                          <a:solidFill>
                            <a:srgbClr val="233141"/>
                          </a:solidFill>
                          <a:latin typeface="Aptos"/>
                        </a:defRPr>
                      </a:pPr>
                      <a:r>
                        <a:t>4.0</a:t>
                      </a:r>
                    </a:p>
                  </a:txBody>
                  <a:tcPr>
                    <a:solidFill>
                      <a:srgbClr val="FFFFFF"/>
                    </a:solidFill>
                  </a:tcPr>
                </a:tc>
                <a:tc>
                  <a:txBody>
                    <a:bodyPr/>
                    <a:lstStyle/>
                    <a:p>
                      <a:pPr algn="ctr">
                        <a:defRPr sz="1200" b="0">
                          <a:solidFill>
                            <a:srgbClr val="233141"/>
                          </a:solidFill>
                          <a:latin typeface="Aptos"/>
                        </a:defRPr>
                      </a:pPr>
                      <a:r>
                        <a:t>3</a:t>
                      </a:r>
                    </a:p>
                  </a:txBody>
                  <a:tcPr>
                    <a:solidFill>
                      <a:srgbClr val="FFFFFF"/>
                    </a:solidFill>
                  </a:tcPr>
                </a:tc>
                <a:extLst>
                  <a:ext uri="{0D108BD9-81ED-4DB2-BD59-A6C34878D82A}">
                    <a16:rowId xmlns:a16="http://schemas.microsoft.com/office/drawing/2014/main" val="10003"/>
                  </a:ext>
                </a:extLst>
              </a:tr>
            </a:tbl>
          </a:graphicData>
        </a:graphic>
      </p:graphicFrame>
      <p:sp>
        <p:nvSpPr>
          <p:cNvPr id="8" name="Rounded Rectangle 7"/>
          <p:cNvSpPr/>
          <p:nvPr/>
        </p:nvSpPr>
        <p:spPr>
          <a:xfrm>
            <a:off x="7726679" y="1600200"/>
            <a:ext cx="3703320" cy="274320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0" y="1828800"/>
            <a:ext cx="2971800" cy="320040"/>
          </a:xfrm>
          <a:prstGeom prst="rect">
            <a:avLst/>
          </a:prstGeom>
          <a:noFill/>
        </p:spPr>
        <p:txBody>
          <a:bodyPr wrap="square" lIns="54864" tIns="54864" rIns="54864" bIns="54864" anchor="t">
            <a:spAutoFit/>
          </a:bodyPr>
          <a:lstStyle/>
          <a:p>
            <a:pPr algn="l">
              <a:spcAft>
                <a:spcPts val="500"/>
              </a:spcAft>
              <a:defRPr sz="1700" b="1" i="0">
                <a:solidFill>
                  <a:srgbClr val="0F2340"/>
                </a:solidFill>
                <a:latin typeface="Aptos"/>
              </a:defRPr>
            </a:pPr>
            <a:r>
              <a:t>Selection</a:t>
            </a:r>
          </a:p>
        </p:txBody>
      </p:sp>
      <p:sp>
        <p:nvSpPr>
          <p:cNvPr id="10" name="TextBox 9"/>
          <p:cNvSpPr txBox="1"/>
          <p:nvPr/>
        </p:nvSpPr>
        <p:spPr>
          <a:xfrm>
            <a:off x="8046720" y="2331720"/>
            <a:ext cx="2971800" cy="1143000"/>
          </a:xfrm>
          <a:prstGeom prst="rect">
            <a:avLst/>
          </a:prstGeom>
          <a:noFill/>
        </p:spPr>
        <p:txBody>
          <a:bodyPr wrap="square" lIns="54864" tIns="54864" rIns="54864" bIns="54864" anchor="t">
            <a:spAutoFit/>
          </a:bodyPr>
          <a:lstStyle/>
          <a:p>
            <a:pPr algn="l">
              <a:spcAft>
                <a:spcPts val="500"/>
              </a:spcAft>
              <a:defRPr sz="1500" b="0" i="0">
                <a:solidFill>
                  <a:srgbClr val="233141"/>
                </a:solidFill>
                <a:latin typeface="Aptos"/>
              </a:defRPr>
            </a:pPr>
            <a:r>
              <a:t>A: take 10 kg → profit 60</a:t>
            </a:r>
          </a:p>
          <a:p>
            <a:pPr algn="l">
              <a:spcAft>
                <a:spcPts val="500"/>
              </a:spcAft>
              <a:defRPr sz="1500" b="0" i="0">
                <a:solidFill>
                  <a:srgbClr val="233141"/>
                </a:solidFill>
                <a:latin typeface="Aptos"/>
              </a:defRPr>
            </a:pPr>
            <a:r>
              <a:t>B: take 20 kg → profit 100</a:t>
            </a:r>
          </a:p>
          <a:p>
            <a:pPr algn="l">
              <a:spcAft>
                <a:spcPts val="500"/>
              </a:spcAft>
              <a:defRPr sz="1500" b="0" i="0">
                <a:solidFill>
                  <a:srgbClr val="233141"/>
                </a:solidFill>
                <a:latin typeface="Aptos"/>
              </a:defRPr>
            </a:pPr>
            <a:r>
              <a:t>C: take 20 of 30 kg (2/3) → profit 80</a:t>
            </a:r>
          </a:p>
        </p:txBody>
      </p:sp>
      <p:sp>
        <p:nvSpPr>
          <p:cNvPr id="11" name="TextBox 10"/>
          <p:cNvSpPr txBox="1"/>
          <p:nvPr/>
        </p:nvSpPr>
        <p:spPr>
          <a:xfrm>
            <a:off x="8046720" y="3611880"/>
            <a:ext cx="2926080" cy="274320"/>
          </a:xfrm>
          <a:prstGeom prst="rect">
            <a:avLst/>
          </a:prstGeom>
          <a:noFill/>
        </p:spPr>
        <p:txBody>
          <a:bodyPr wrap="square" lIns="54864" tIns="54864" rIns="54864" bIns="54864" anchor="t">
            <a:spAutoFit/>
          </a:bodyPr>
          <a:lstStyle/>
          <a:p>
            <a:pPr algn="l">
              <a:spcAft>
                <a:spcPts val="500"/>
              </a:spcAft>
              <a:defRPr sz="1400" b="1" i="0">
                <a:solidFill>
                  <a:srgbClr val="00B1A9"/>
                </a:solidFill>
                <a:latin typeface="Aptos"/>
              </a:defRPr>
            </a:pPr>
            <a:r>
              <a:t>Total weight = 50 kg</a:t>
            </a:r>
          </a:p>
        </p:txBody>
      </p:sp>
      <p:sp>
        <p:nvSpPr>
          <p:cNvPr id="12" name="TextBox 11"/>
          <p:cNvSpPr txBox="1"/>
          <p:nvPr/>
        </p:nvSpPr>
        <p:spPr>
          <a:xfrm>
            <a:off x="8046720" y="3931920"/>
            <a:ext cx="2926080" cy="274320"/>
          </a:xfrm>
          <a:prstGeom prst="rect">
            <a:avLst/>
          </a:prstGeom>
          <a:noFill/>
        </p:spPr>
        <p:txBody>
          <a:bodyPr wrap="square" lIns="54864" tIns="54864" rIns="54864" bIns="54864" anchor="t">
            <a:spAutoFit/>
          </a:bodyPr>
          <a:lstStyle/>
          <a:p>
            <a:pPr algn="l">
              <a:spcAft>
                <a:spcPts val="500"/>
              </a:spcAft>
              <a:defRPr sz="1800" b="1" i="0">
                <a:solidFill>
                  <a:srgbClr val="269170"/>
                </a:solidFill>
                <a:latin typeface="Aptos"/>
              </a:defRPr>
            </a:pPr>
            <a:r>
              <a:t>Total profit = 240</a:t>
            </a:r>
          </a:p>
        </p:txBody>
      </p:sp>
      <p:sp>
        <p:nvSpPr>
          <p:cNvPr id="13" name="Rounded Rectangle 12"/>
          <p:cNvSpPr/>
          <p:nvPr/>
        </p:nvSpPr>
        <p:spPr>
          <a:xfrm>
            <a:off x="822960" y="4343400"/>
            <a:ext cx="10561320" cy="1143000"/>
          </a:xfrm>
          <a:prstGeom prst="roundRect">
            <a:avLst/>
          </a:prstGeom>
          <a:solidFill>
            <a:srgbClr val="0F2340"/>
          </a:solidFill>
          <a:ln>
            <a:solidFill>
              <a:srgbClr val="0F2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4590288"/>
            <a:ext cx="10012680" cy="658368"/>
          </a:xfrm>
          <a:prstGeom prst="rect">
            <a:avLst/>
          </a:prstGeom>
          <a:noFill/>
        </p:spPr>
        <p:txBody>
          <a:bodyPr wrap="square" lIns="54864" tIns="54864" rIns="54864" bIns="54864" anchor="t">
            <a:spAutoFit/>
          </a:bodyPr>
          <a:lstStyle/>
          <a:p>
            <a:pPr algn="l">
              <a:spcAft>
                <a:spcPts val="500"/>
              </a:spcAft>
              <a:defRPr sz="1500" b="0" i="0">
                <a:solidFill>
                  <a:srgbClr val="FFFFFF"/>
                </a:solidFill>
                <a:latin typeface="Aptos"/>
              </a:defRPr>
            </a:pPr>
            <a:r>
              <a:t>Pseudocode: sort items by pᵢ/wᵢ descending → remaining = W → for each item, take min(weight, remaining); add proportional profit → stop when remaining = 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502920"/>
          </a:xfrm>
          <a:prstGeom prst="rect">
            <a:avLst/>
          </a:prstGeom>
          <a:noFill/>
        </p:spPr>
        <p:txBody>
          <a:bodyPr wrap="square" lIns="54864" tIns="54864" rIns="54864" bIns="54864" anchor="t">
            <a:spAutoFit/>
          </a:bodyPr>
          <a:lstStyle/>
          <a:p>
            <a:pPr algn="l">
              <a:spcAft>
                <a:spcPts val="500"/>
              </a:spcAft>
              <a:defRPr sz="2700" b="1" i="0">
                <a:solidFill>
                  <a:srgbClr val="0F2340"/>
                </a:solidFill>
                <a:latin typeface="Aptos"/>
              </a:defRPr>
            </a:pPr>
            <a:r>
              <a:t>9. Time &amp; Space Complexity</a:t>
            </a:r>
          </a:p>
        </p:txBody>
      </p:sp>
      <p:sp>
        <p:nvSpPr>
          <p:cNvPr id="3" name="Rectangle 2"/>
          <p:cNvSpPr/>
          <p:nvPr/>
        </p:nvSpPr>
        <p:spPr>
          <a:xfrm>
            <a:off x="530352" y="896112"/>
            <a:ext cx="914400" cy="50292"/>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509760" y="347472"/>
            <a:ext cx="2057400" cy="256032"/>
          </a:xfrm>
          <a:prstGeom prst="rect">
            <a:avLst/>
          </a:prstGeom>
          <a:noFill/>
        </p:spPr>
        <p:txBody>
          <a:bodyPr wrap="square" lIns="54864" tIns="54864" rIns="54864" bIns="54864" anchor="t">
            <a:spAutoFit/>
          </a:bodyPr>
          <a:lstStyle/>
          <a:p>
            <a:pPr algn="r">
              <a:spcAft>
                <a:spcPts val="500"/>
              </a:spcAft>
              <a:defRPr sz="900" b="1" i="0">
                <a:solidFill>
                  <a:srgbClr val="00B1A9"/>
                </a:solidFill>
                <a:latin typeface="Aptos"/>
              </a:defRPr>
            </a:pPr>
            <a:r>
              <a:t>ANALYSIS</a:t>
            </a:r>
          </a:p>
        </p:txBody>
      </p:sp>
      <p:sp>
        <p:nvSpPr>
          <p:cNvPr id="5" name="TextBox 4"/>
          <p:cNvSpPr txBox="1"/>
          <p:nvPr/>
        </p:nvSpPr>
        <p:spPr>
          <a:xfrm>
            <a:off x="10789920" y="6528816"/>
            <a:ext cx="914400" cy="164592"/>
          </a:xfrm>
          <a:prstGeom prst="rect">
            <a:avLst/>
          </a:prstGeom>
          <a:noFill/>
        </p:spPr>
        <p:txBody>
          <a:bodyPr wrap="square" lIns="54864" tIns="54864" rIns="54864" bIns="54864" anchor="t">
            <a:spAutoFit/>
          </a:bodyPr>
          <a:lstStyle/>
          <a:p>
            <a:pPr algn="r">
              <a:spcAft>
                <a:spcPts val="500"/>
              </a:spcAft>
              <a:defRPr sz="800" b="0" i="0">
                <a:solidFill>
                  <a:srgbClr val="5E7082"/>
                </a:solidFill>
                <a:latin typeface="Aptos"/>
              </a:defRPr>
            </a:pPr>
            <a:r>
              <a:t>10  /  14</a:t>
            </a:r>
          </a:p>
        </p:txBody>
      </p:sp>
      <p:graphicFrame>
        <p:nvGraphicFramePr>
          <p:cNvPr id="6" name="Table 5"/>
          <p:cNvGraphicFramePr>
            <a:graphicFrameLocks noGrp="1"/>
          </p:cNvGraphicFramePr>
          <p:nvPr/>
        </p:nvGraphicFramePr>
        <p:xfrm>
          <a:off x="640080" y="1508760"/>
          <a:ext cx="10972800" cy="28803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4389120">
                  <a:extLst>
                    <a:ext uri="{9D8B030D-6E8A-4147-A177-3AD203B41FA5}">
                      <a16:colId xmlns:a16="http://schemas.microsoft.com/office/drawing/2014/main" val="20003"/>
                    </a:ext>
                  </a:extLst>
                </a:gridCol>
              </a:tblGrid>
              <a:tr h="720090">
                <a:tc>
                  <a:txBody>
                    <a:bodyPr/>
                    <a:lstStyle/>
                    <a:p>
                      <a:pPr>
                        <a:defRPr sz="1200" b="1">
                          <a:solidFill>
                            <a:srgbClr val="FFFFFF"/>
                          </a:solidFill>
                          <a:latin typeface="Aptos"/>
                        </a:defRPr>
                      </a:pPr>
                      <a:r>
                        <a:t>Approach</a:t>
                      </a:r>
                    </a:p>
                  </a:txBody>
                  <a:tcPr marR="73152">
                    <a:solidFill>
                      <a:srgbClr val="0F2340"/>
                    </a:solidFill>
                  </a:tcPr>
                </a:tc>
                <a:tc>
                  <a:txBody>
                    <a:bodyPr/>
                    <a:lstStyle/>
                    <a:p>
                      <a:pPr>
                        <a:defRPr sz="1200" b="1">
                          <a:solidFill>
                            <a:srgbClr val="FFFFFF"/>
                          </a:solidFill>
                          <a:latin typeface="Aptos"/>
                        </a:defRPr>
                      </a:pPr>
                      <a:r>
                        <a:t>Time</a:t>
                      </a:r>
                    </a:p>
                  </a:txBody>
                  <a:tcPr marR="73152">
                    <a:solidFill>
                      <a:srgbClr val="0F2340"/>
                    </a:solidFill>
                  </a:tcPr>
                </a:tc>
                <a:tc>
                  <a:txBody>
                    <a:bodyPr/>
                    <a:lstStyle/>
                    <a:p>
                      <a:pPr>
                        <a:defRPr sz="1200" b="1">
                          <a:solidFill>
                            <a:srgbClr val="FFFFFF"/>
                          </a:solidFill>
                          <a:latin typeface="Aptos"/>
                        </a:defRPr>
                      </a:pPr>
                      <a:r>
                        <a:t>Space</a:t>
                      </a:r>
                    </a:p>
                  </a:txBody>
                  <a:tcPr marR="73152">
                    <a:solidFill>
                      <a:srgbClr val="0F2340"/>
                    </a:solidFill>
                  </a:tcPr>
                </a:tc>
                <a:tc>
                  <a:txBody>
                    <a:bodyPr/>
                    <a:lstStyle/>
                    <a:p>
                      <a:pPr>
                        <a:defRPr sz="1200" b="1">
                          <a:solidFill>
                            <a:srgbClr val="FFFFFF"/>
                          </a:solidFill>
                          <a:latin typeface="Aptos"/>
                        </a:defRPr>
                      </a:pPr>
                      <a:r>
                        <a:t>Notes</a:t>
                      </a:r>
                    </a:p>
                  </a:txBody>
                  <a:tcPr marR="73152">
                    <a:solidFill>
                      <a:srgbClr val="0F2340"/>
                    </a:solidFill>
                  </a:tcPr>
                </a:tc>
                <a:extLst>
                  <a:ext uri="{0D108BD9-81ED-4DB2-BD59-A6C34878D82A}">
                    <a16:rowId xmlns:a16="http://schemas.microsoft.com/office/drawing/2014/main" val="10000"/>
                  </a:ext>
                </a:extLst>
              </a:tr>
              <a:tr h="720090">
                <a:tc>
                  <a:txBody>
                    <a:bodyPr/>
                    <a:lstStyle/>
                    <a:p>
                      <a:pPr>
                        <a:defRPr sz="1300" b="1">
                          <a:solidFill>
                            <a:srgbClr val="233141"/>
                          </a:solidFill>
                          <a:latin typeface="Aptos"/>
                        </a:defRPr>
                      </a:pPr>
                      <a:r>
                        <a:t>0/1 DP table</a:t>
                      </a:r>
                    </a:p>
                  </a:txBody>
                  <a:tcPr marR="73152">
                    <a:solidFill>
                      <a:srgbClr val="FFFFFF"/>
                    </a:solidFill>
                  </a:tcPr>
                </a:tc>
                <a:tc>
                  <a:txBody>
                    <a:bodyPr/>
                    <a:lstStyle/>
                    <a:p>
                      <a:pPr>
                        <a:defRPr sz="1300" b="0">
                          <a:solidFill>
                            <a:srgbClr val="233141"/>
                          </a:solidFill>
                          <a:latin typeface="Aptos"/>
                        </a:defRPr>
                      </a:pPr>
                      <a:r>
                        <a:t>O(nW)</a:t>
                      </a:r>
                    </a:p>
                  </a:txBody>
                  <a:tcPr marR="73152">
                    <a:solidFill>
                      <a:srgbClr val="FFFFFF"/>
                    </a:solidFill>
                  </a:tcPr>
                </a:tc>
                <a:tc>
                  <a:txBody>
                    <a:bodyPr/>
                    <a:lstStyle/>
                    <a:p>
                      <a:pPr>
                        <a:defRPr sz="1300" b="0">
                          <a:solidFill>
                            <a:srgbClr val="233141"/>
                          </a:solidFill>
                          <a:latin typeface="Aptos"/>
                        </a:defRPr>
                      </a:pPr>
                      <a:r>
                        <a:t>O(nW)</a:t>
                      </a:r>
                    </a:p>
                  </a:txBody>
                  <a:tcPr marR="73152">
                    <a:solidFill>
                      <a:srgbClr val="FFFFFF"/>
                    </a:solidFill>
                  </a:tcPr>
                </a:tc>
                <a:tc>
                  <a:txBody>
                    <a:bodyPr/>
                    <a:lstStyle/>
                    <a:p>
                      <a:pPr>
                        <a:defRPr sz="1300" b="0">
                          <a:solidFill>
                            <a:srgbClr val="233141"/>
                          </a:solidFill>
                          <a:latin typeface="Aptos"/>
                        </a:defRPr>
                      </a:pPr>
                      <a:r>
                        <a:t>Stores all item/capacity states</a:t>
                      </a:r>
                    </a:p>
                  </a:txBody>
                  <a:tcPr marR="73152">
                    <a:solidFill>
                      <a:srgbClr val="FFFFFF"/>
                    </a:solidFill>
                  </a:tcPr>
                </a:tc>
                <a:extLst>
                  <a:ext uri="{0D108BD9-81ED-4DB2-BD59-A6C34878D82A}">
                    <a16:rowId xmlns:a16="http://schemas.microsoft.com/office/drawing/2014/main" val="10001"/>
                  </a:ext>
                </a:extLst>
              </a:tr>
              <a:tr h="720090">
                <a:tc>
                  <a:txBody>
                    <a:bodyPr/>
                    <a:lstStyle/>
                    <a:p>
                      <a:pPr>
                        <a:defRPr sz="1300" b="1">
                          <a:solidFill>
                            <a:srgbClr val="233141"/>
                          </a:solidFill>
                          <a:latin typeface="Aptos"/>
                        </a:defRPr>
                      </a:pPr>
                      <a:r>
                        <a:t>0/1 optimized DP</a:t>
                      </a:r>
                    </a:p>
                  </a:txBody>
                  <a:tcPr marR="73152">
                    <a:solidFill>
                      <a:srgbClr val="EBF3F8"/>
                    </a:solidFill>
                  </a:tcPr>
                </a:tc>
                <a:tc>
                  <a:txBody>
                    <a:bodyPr/>
                    <a:lstStyle/>
                    <a:p>
                      <a:pPr>
                        <a:defRPr sz="1300" b="0">
                          <a:solidFill>
                            <a:srgbClr val="233141"/>
                          </a:solidFill>
                          <a:latin typeface="Aptos"/>
                        </a:defRPr>
                      </a:pPr>
                      <a:r>
                        <a:t>O(nW)</a:t>
                      </a:r>
                    </a:p>
                  </a:txBody>
                  <a:tcPr marR="73152">
                    <a:solidFill>
                      <a:srgbClr val="EBF3F8"/>
                    </a:solidFill>
                  </a:tcPr>
                </a:tc>
                <a:tc>
                  <a:txBody>
                    <a:bodyPr/>
                    <a:lstStyle/>
                    <a:p>
                      <a:pPr>
                        <a:defRPr sz="1300" b="0">
                          <a:solidFill>
                            <a:srgbClr val="233141"/>
                          </a:solidFill>
                          <a:latin typeface="Aptos"/>
                        </a:defRPr>
                      </a:pPr>
                      <a:r>
                        <a:t>O(W)</a:t>
                      </a:r>
                    </a:p>
                  </a:txBody>
                  <a:tcPr marR="73152">
                    <a:solidFill>
                      <a:srgbClr val="EBF3F8"/>
                    </a:solidFill>
                  </a:tcPr>
                </a:tc>
                <a:tc>
                  <a:txBody>
                    <a:bodyPr/>
                    <a:lstStyle/>
                    <a:p>
                      <a:pPr>
                        <a:defRPr sz="1300" b="0">
                          <a:solidFill>
                            <a:srgbClr val="233141"/>
                          </a:solidFill>
                          <a:latin typeface="Aptos"/>
                        </a:defRPr>
                      </a:pPr>
                      <a:r>
                        <a:t>Use 1D array; iterate capacities downward</a:t>
                      </a:r>
                    </a:p>
                  </a:txBody>
                  <a:tcPr marR="73152">
                    <a:solidFill>
                      <a:srgbClr val="EBF3F8"/>
                    </a:solidFill>
                  </a:tcPr>
                </a:tc>
                <a:extLst>
                  <a:ext uri="{0D108BD9-81ED-4DB2-BD59-A6C34878D82A}">
                    <a16:rowId xmlns:a16="http://schemas.microsoft.com/office/drawing/2014/main" val="10002"/>
                  </a:ext>
                </a:extLst>
              </a:tr>
              <a:tr h="720090">
                <a:tc>
                  <a:txBody>
                    <a:bodyPr/>
                    <a:lstStyle/>
                    <a:p>
                      <a:pPr>
                        <a:defRPr sz="1300" b="1">
                          <a:solidFill>
                            <a:srgbClr val="233141"/>
                          </a:solidFill>
                          <a:latin typeface="Aptos"/>
                        </a:defRPr>
                      </a:pPr>
                      <a:r>
                        <a:t>Fractional greedy</a:t>
                      </a:r>
                    </a:p>
                  </a:txBody>
                  <a:tcPr marR="73152">
                    <a:solidFill>
                      <a:srgbClr val="FFFFFF"/>
                    </a:solidFill>
                  </a:tcPr>
                </a:tc>
                <a:tc>
                  <a:txBody>
                    <a:bodyPr/>
                    <a:lstStyle/>
                    <a:p>
                      <a:pPr>
                        <a:defRPr sz="1300" b="0">
                          <a:solidFill>
                            <a:srgbClr val="233141"/>
                          </a:solidFill>
                          <a:latin typeface="Aptos"/>
                        </a:defRPr>
                      </a:pPr>
                      <a:r>
                        <a:t>O(n log n)</a:t>
                      </a:r>
                    </a:p>
                  </a:txBody>
                  <a:tcPr marR="73152">
                    <a:solidFill>
                      <a:srgbClr val="FFFFFF"/>
                    </a:solidFill>
                  </a:tcPr>
                </a:tc>
                <a:tc>
                  <a:txBody>
                    <a:bodyPr/>
                    <a:lstStyle/>
                    <a:p>
                      <a:pPr>
                        <a:defRPr sz="1300" b="0">
                          <a:solidFill>
                            <a:srgbClr val="233141"/>
                          </a:solidFill>
                          <a:latin typeface="Aptos"/>
                        </a:defRPr>
                      </a:pPr>
                      <a:r>
                        <a:t>Depends on sort</a:t>
                      </a:r>
                    </a:p>
                  </a:txBody>
                  <a:tcPr marR="73152">
                    <a:solidFill>
                      <a:srgbClr val="FFFFFF"/>
                    </a:solidFill>
                  </a:tcPr>
                </a:tc>
                <a:tc>
                  <a:txBody>
                    <a:bodyPr/>
                    <a:lstStyle/>
                    <a:p>
                      <a:pPr>
                        <a:defRPr sz="1300" b="0">
                          <a:solidFill>
                            <a:srgbClr val="233141"/>
                          </a:solidFill>
                          <a:latin typeface="Aptos"/>
                        </a:defRPr>
                      </a:pPr>
                      <a:r>
                        <a:t>Sorting by ratio; often O(1) to O(n) extra space</a:t>
                      </a:r>
                    </a:p>
                  </a:txBody>
                  <a:tcPr marR="73152">
                    <a:solidFill>
                      <a:srgbClr val="FFFFF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777240" y="4709160"/>
            <a:ext cx="10698480" cy="1051560"/>
          </a:xfrm>
          <a:prstGeom prst="roundRect">
            <a:avLst/>
          </a:prstGeom>
          <a:solidFill>
            <a:srgbClr val="BEF4EE"/>
          </a:solidFill>
          <a:ln>
            <a:solidFill>
              <a:srgbClr val="BEF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4965192"/>
            <a:ext cx="10149840" cy="502920"/>
          </a:xfrm>
          <a:prstGeom prst="rect">
            <a:avLst/>
          </a:prstGeom>
          <a:noFill/>
        </p:spPr>
        <p:txBody>
          <a:bodyPr wrap="square" lIns="54864" tIns="54864" rIns="54864" bIns="54864" anchor="t">
            <a:spAutoFit/>
          </a:bodyPr>
          <a:lstStyle/>
          <a:p>
            <a:pPr algn="l">
              <a:spcAft>
                <a:spcPts val="500"/>
              </a:spcAft>
              <a:defRPr sz="1600" b="1" i="0">
                <a:solidFill>
                  <a:srgbClr val="0F2340"/>
                </a:solidFill>
                <a:latin typeface="Aptos"/>
              </a:defRPr>
            </a:pPr>
            <a:r>
              <a:t>Important: O(nW) is pseudo-polynomial, not polynomial in the input length, because W may need only log₂(W) bits to represent.</a:t>
            </a:r>
          </a:p>
        </p:txBody>
      </p:sp>
      <p:sp>
        <p:nvSpPr>
          <p:cNvPr id="9" name="TextBox 8"/>
          <p:cNvSpPr txBox="1"/>
          <p:nvPr/>
        </p:nvSpPr>
        <p:spPr>
          <a:xfrm>
            <a:off x="822960" y="5989320"/>
            <a:ext cx="10515600" cy="274320"/>
          </a:xfrm>
          <a:prstGeom prst="rect">
            <a:avLst/>
          </a:prstGeom>
          <a:noFill/>
        </p:spPr>
        <p:txBody>
          <a:bodyPr wrap="square" lIns="54864" tIns="54864" rIns="54864" bIns="54864" anchor="t">
            <a:spAutoFit/>
          </a:bodyPr>
          <a:lstStyle/>
          <a:p>
            <a:pPr algn="ctr">
              <a:spcAft>
                <a:spcPts val="500"/>
              </a:spcAft>
              <a:defRPr sz="1300" b="0" i="0">
                <a:solidFill>
                  <a:srgbClr val="5E7082"/>
                </a:solidFill>
                <a:latin typeface="Aptos"/>
              </a:defRPr>
            </a:pPr>
            <a:r>
              <a:t>n = number of items     •     W = integer capacity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502920"/>
          </a:xfrm>
          <a:prstGeom prst="rect">
            <a:avLst/>
          </a:prstGeom>
          <a:noFill/>
        </p:spPr>
        <p:txBody>
          <a:bodyPr wrap="square" lIns="54864" tIns="54864" rIns="54864" bIns="54864" anchor="t">
            <a:spAutoFit/>
          </a:bodyPr>
          <a:lstStyle/>
          <a:p>
            <a:pPr algn="l">
              <a:spcAft>
                <a:spcPts val="500"/>
              </a:spcAft>
              <a:defRPr sz="2700" b="1" i="0">
                <a:solidFill>
                  <a:srgbClr val="0F2340"/>
                </a:solidFill>
                <a:latin typeface="Aptos"/>
              </a:defRPr>
            </a:pPr>
            <a:r>
              <a:t>10. Dynamic Programming vs Greedy</a:t>
            </a:r>
          </a:p>
        </p:txBody>
      </p:sp>
      <p:sp>
        <p:nvSpPr>
          <p:cNvPr id="3" name="Rectangle 2"/>
          <p:cNvSpPr/>
          <p:nvPr/>
        </p:nvSpPr>
        <p:spPr>
          <a:xfrm>
            <a:off x="530352" y="896112"/>
            <a:ext cx="914400" cy="50292"/>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509760" y="347472"/>
            <a:ext cx="2057400" cy="256032"/>
          </a:xfrm>
          <a:prstGeom prst="rect">
            <a:avLst/>
          </a:prstGeom>
          <a:noFill/>
        </p:spPr>
        <p:txBody>
          <a:bodyPr wrap="square" lIns="54864" tIns="54864" rIns="54864" bIns="54864" anchor="t">
            <a:spAutoFit/>
          </a:bodyPr>
          <a:lstStyle/>
          <a:p>
            <a:pPr algn="r">
              <a:spcAft>
                <a:spcPts val="500"/>
              </a:spcAft>
              <a:defRPr sz="900" b="1" i="0">
                <a:solidFill>
                  <a:srgbClr val="00B1A9"/>
                </a:solidFill>
                <a:latin typeface="Aptos"/>
              </a:defRPr>
            </a:pPr>
            <a:r>
              <a:t>COMPARE</a:t>
            </a:r>
          </a:p>
        </p:txBody>
      </p:sp>
      <p:sp>
        <p:nvSpPr>
          <p:cNvPr id="5" name="TextBox 4"/>
          <p:cNvSpPr txBox="1"/>
          <p:nvPr/>
        </p:nvSpPr>
        <p:spPr>
          <a:xfrm>
            <a:off x="10789920" y="6528816"/>
            <a:ext cx="914400" cy="164592"/>
          </a:xfrm>
          <a:prstGeom prst="rect">
            <a:avLst/>
          </a:prstGeom>
          <a:noFill/>
        </p:spPr>
        <p:txBody>
          <a:bodyPr wrap="square" lIns="54864" tIns="54864" rIns="54864" bIns="54864" anchor="t">
            <a:spAutoFit/>
          </a:bodyPr>
          <a:lstStyle/>
          <a:p>
            <a:pPr algn="r">
              <a:spcAft>
                <a:spcPts val="500"/>
              </a:spcAft>
              <a:defRPr sz="800" b="0" i="0">
                <a:solidFill>
                  <a:srgbClr val="5E7082"/>
                </a:solidFill>
                <a:latin typeface="Aptos"/>
              </a:defRPr>
            </a:pPr>
            <a:r>
              <a:t>11  /  14</a:t>
            </a:r>
          </a:p>
        </p:txBody>
      </p:sp>
      <p:graphicFrame>
        <p:nvGraphicFramePr>
          <p:cNvPr id="6" name="Table 5"/>
          <p:cNvGraphicFramePr>
            <a:graphicFrameLocks noGrp="1"/>
          </p:cNvGraphicFramePr>
          <p:nvPr/>
        </p:nvGraphicFramePr>
        <p:xfrm>
          <a:off x="640080" y="1325880"/>
          <a:ext cx="10972800" cy="42519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708660">
                <a:tc>
                  <a:txBody>
                    <a:bodyPr/>
                    <a:lstStyle/>
                    <a:p>
                      <a:pPr>
                        <a:defRPr sz="1200" b="1">
                          <a:solidFill>
                            <a:srgbClr val="FFFFFF"/>
                          </a:solidFill>
                          <a:latin typeface="Aptos"/>
                        </a:defRPr>
                      </a:pPr>
                      <a:r>
                        <a:t>Criterion</a:t>
                      </a:r>
                    </a:p>
                  </a:txBody>
                  <a:tcPr marL="109728">
                    <a:solidFill>
                      <a:srgbClr val="0F2340"/>
                    </a:solidFill>
                  </a:tcPr>
                </a:tc>
                <a:tc>
                  <a:txBody>
                    <a:bodyPr/>
                    <a:lstStyle/>
                    <a:p>
                      <a:pPr>
                        <a:defRPr sz="1200" b="1">
                          <a:solidFill>
                            <a:srgbClr val="FFFFFF"/>
                          </a:solidFill>
                          <a:latin typeface="Aptos"/>
                        </a:defRPr>
                      </a:pPr>
                      <a:r>
                        <a:t>Dynamic Programming</a:t>
                      </a:r>
                    </a:p>
                  </a:txBody>
                  <a:tcPr marL="109728">
                    <a:solidFill>
                      <a:srgbClr val="0F2340"/>
                    </a:solidFill>
                  </a:tcPr>
                </a:tc>
                <a:tc>
                  <a:txBody>
                    <a:bodyPr/>
                    <a:lstStyle/>
                    <a:p>
                      <a:pPr>
                        <a:defRPr sz="1200" b="1">
                          <a:solidFill>
                            <a:srgbClr val="FFFFFF"/>
                          </a:solidFill>
                          <a:latin typeface="Aptos"/>
                        </a:defRPr>
                      </a:pPr>
                      <a:r>
                        <a:t>Greedy Method</a:t>
                      </a:r>
                    </a:p>
                  </a:txBody>
                  <a:tcPr marL="109728">
                    <a:solidFill>
                      <a:srgbClr val="0F2340"/>
                    </a:solidFill>
                  </a:tcPr>
                </a:tc>
                <a:extLst>
                  <a:ext uri="{0D108BD9-81ED-4DB2-BD59-A6C34878D82A}">
                    <a16:rowId xmlns:a16="http://schemas.microsoft.com/office/drawing/2014/main" val="10000"/>
                  </a:ext>
                </a:extLst>
              </a:tr>
              <a:tr h="708660">
                <a:tc>
                  <a:txBody>
                    <a:bodyPr/>
                    <a:lstStyle/>
                    <a:p>
                      <a:pPr>
                        <a:defRPr sz="1200" b="1">
                          <a:solidFill>
                            <a:srgbClr val="233141"/>
                          </a:solidFill>
                          <a:latin typeface="Aptos"/>
                        </a:defRPr>
                      </a:pPr>
                      <a:r>
                        <a:t>Basic idea</a:t>
                      </a:r>
                    </a:p>
                  </a:txBody>
                  <a:tcPr marL="109728">
                    <a:solidFill>
                      <a:srgbClr val="FFFFFF"/>
                    </a:solidFill>
                  </a:tcPr>
                </a:tc>
                <a:tc>
                  <a:txBody>
                    <a:bodyPr/>
                    <a:lstStyle/>
                    <a:p>
                      <a:pPr>
                        <a:defRPr sz="1200" b="0">
                          <a:solidFill>
                            <a:srgbClr val="233141"/>
                          </a:solidFill>
                          <a:latin typeface="Aptos"/>
                        </a:defRPr>
                      </a:pPr>
                      <a:r>
                        <a:t>Compare take vs skip; store subproblems</a:t>
                      </a:r>
                    </a:p>
                  </a:txBody>
                  <a:tcPr marL="109728">
                    <a:solidFill>
                      <a:srgbClr val="FFFFFF"/>
                    </a:solidFill>
                  </a:tcPr>
                </a:tc>
                <a:tc>
                  <a:txBody>
                    <a:bodyPr/>
                    <a:lstStyle/>
                    <a:p>
                      <a:pPr>
                        <a:defRPr sz="1200" b="0">
                          <a:solidFill>
                            <a:srgbClr val="233141"/>
                          </a:solidFill>
                          <a:latin typeface="Aptos"/>
                        </a:defRPr>
                      </a:pPr>
                      <a:r>
                        <a:t>Choose the best local option next</a:t>
                      </a:r>
                    </a:p>
                  </a:txBody>
                  <a:tcPr marL="109728">
                    <a:solidFill>
                      <a:srgbClr val="FFFFFF"/>
                    </a:solidFill>
                  </a:tcPr>
                </a:tc>
                <a:extLst>
                  <a:ext uri="{0D108BD9-81ED-4DB2-BD59-A6C34878D82A}">
                    <a16:rowId xmlns:a16="http://schemas.microsoft.com/office/drawing/2014/main" val="10001"/>
                  </a:ext>
                </a:extLst>
              </a:tr>
              <a:tr h="708660">
                <a:tc>
                  <a:txBody>
                    <a:bodyPr/>
                    <a:lstStyle/>
                    <a:p>
                      <a:pPr>
                        <a:defRPr sz="1200" b="1">
                          <a:solidFill>
                            <a:srgbClr val="233141"/>
                          </a:solidFill>
                          <a:latin typeface="Aptos"/>
                        </a:defRPr>
                      </a:pPr>
                      <a:r>
                        <a:t>Optimality</a:t>
                      </a:r>
                    </a:p>
                  </a:txBody>
                  <a:tcPr marL="109728">
                    <a:solidFill>
                      <a:srgbClr val="EBF3F8"/>
                    </a:solidFill>
                  </a:tcPr>
                </a:tc>
                <a:tc>
                  <a:txBody>
                    <a:bodyPr/>
                    <a:lstStyle/>
                    <a:p>
                      <a:pPr>
                        <a:defRPr sz="1200" b="0">
                          <a:solidFill>
                            <a:srgbClr val="233141"/>
                          </a:solidFill>
                          <a:latin typeface="Aptos"/>
                        </a:defRPr>
                      </a:pPr>
                      <a:r>
                        <a:t>Optimal for 0/1 Knapsack when solved exactly</a:t>
                      </a:r>
                    </a:p>
                  </a:txBody>
                  <a:tcPr marL="109728">
                    <a:solidFill>
                      <a:srgbClr val="EBF3F8"/>
                    </a:solidFill>
                  </a:tcPr>
                </a:tc>
                <a:tc>
                  <a:txBody>
                    <a:bodyPr/>
                    <a:lstStyle/>
                    <a:p>
                      <a:pPr>
                        <a:defRPr sz="1200" b="0">
                          <a:solidFill>
                            <a:srgbClr val="233141"/>
                          </a:solidFill>
                          <a:latin typeface="Aptos"/>
                        </a:defRPr>
                      </a:pPr>
                      <a:r>
                        <a:t>Optimal for Fractional; not guaranteed for 0/1</a:t>
                      </a:r>
                    </a:p>
                  </a:txBody>
                  <a:tcPr marL="109728">
                    <a:solidFill>
                      <a:srgbClr val="EBF3F8"/>
                    </a:solidFill>
                  </a:tcPr>
                </a:tc>
                <a:extLst>
                  <a:ext uri="{0D108BD9-81ED-4DB2-BD59-A6C34878D82A}">
                    <a16:rowId xmlns:a16="http://schemas.microsoft.com/office/drawing/2014/main" val="10002"/>
                  </a:ext>
                </a:extLst>
              </a:tr>
              <a:tr h="708660">
                <a:tc>
                  <a:txBody>
                    <a:bodyPr/>
                    <a:lstStyle/>
                    <a:p>
                      <a:pPr>
                        <a:defRPr sz="1200" b="1">
                          <a:solidFill>
                            <a:srgbClr val="233141"/>
                          </a:solidFill>
                          <a:latin typeface="Aptos"/>
                        </a:defRPr>
                      </a:pPr>
                      <a:r>
                        <a:t>Item selection</a:t>
                      </a:r>
                    </a:p>
                  </a:txBody>
                  <a:tcPr marL="109728">
                    <a:solidFill>
                      <a:srgbClr val="FFFFFF"/>
                    </a:solidFill>
                  </a:tcPr>
                </a:tc>
                <a:tc>
                  <a:txBody>
                    <a:bodyPr/>
                    <a:lstStyle/>
                    <a:p>
                      <a:pPr>
                        <a:defRPr sz="1200" b="0">
                          <a:solidFill>
                            <a:srgbClr val="233141"/>
                          </a:solidFill>
                          <a:latin typeface="Aptos"/>
                        </a:defRPr>
                      </a:pPr>
                      <a:r>
                        <a:t>Whole items in 0/1 model</a:t>
                      </a:r>
                    </a:p>
                  </a:txBody>
                  <a:tcPr marL="109728">
                    <a:solidFill>
                      <a:srgbClr val="FFFFFF"/>
                    </a:solidFill>
                  </a:tcPr>
                </a:tc>
                <a:tc>
                  <a:txBody>
                    <a:bodyPr/>
                    <a:lstStyle/>
                    <a:p>
                      <a:pPr>
                        <a:defRPr sz="1200" b="0">
                          <a:solidFill>
                            <a:srgbClr val="233141"/>
                          </a:solidFill>
                          <a:latin typeface="Aptos"/>
                        </a:defRPr>
                      </a:pPr>
                      <a:r>
                        <a:t>Whole items and a final fraction</a:t>
                      </a:r>
                    </a:p>
                  </a:txBody>
                  <a:tcPr marL="109728">
                    <a:solidFill>
                      <a:srgbClr val="FFFFFF"/>
                    </a:solidFill>
                  </a:tcPr>
                </a:tc>
                <a:extLst>
                  <a:ext uri="{0D108BD9-81ED-4DB2-BD59-A6C34878D82A}">
                    <a16:rowId xmlns:a16="http://schemas.microsoft.com/office/drawing/2014/main" val="10003"/>
                  </a:ext>
                </a:extLst>
              </a:tr>
              <a:tr h="708660">
                <a:tc>
                  <a:txBody>
                    <a:bodyPr/>
                    <a:lstStyle/>
                    <a:p>
                      <a:pPr>
                        <a:defRPr sz="1200" b="1">
                          <a:solidFill>
                            <a:srgbClr val="233141"/>
                          </a:solidFill>
                          <a:latin typeface="Aptos"/>
                        </a:defRPr>
                      </a:pPr>
                      <a:r>
                        <a:t>Time</a:t>
                      </a:r>
                    </a:p>
                  </a:txBody>
                  <a:tcPr marL="109728">
                    <a:solidFill>
                      <a:srgbClr val="EBF3F8"/>
                    </a:solidFill>
                  </a:tcPr>
                </a:tc>
                <a:tc>
                  <a:txBody>
                    <a:bodyPr/>
                    <a:lstStyle/>
                    <a:p>
                      <a:pPr>
                        <a:defRPr sz="1200" b="0">
                          <a:solidFill>
                            <a:srgbClr val="233141"/>
                          </a:solidFill>
                          <a:latin typeface="Aptos"/>
                        </a:defRPr>
                      </a:pPr>
                      <a:r>
                        <a:t>O(nW) for standard DP</a:t>
                      </a:r>
                    </a:p>
                  </a:txBody>
                  <a:tcPr marL="109728">
                    <a:solidFill>
                      <a:srgbClr val="EBF3F8"/>
                    </a:solidFill>
                  </a:tcPr>
                </a:tc>
                <a:tc>
                  <a:txBody>
                    <a:bodyPr/>
                    <a:lstStyle/>
                    <a:p>
                      <a:pPr>
                        <a:defRPr sz="1200" b="0">
                          <a:solidFill>
                            <a:srgbClr val="233141"/>
                          </a:solidFill>
                          <a:latin typeface="Aptos"/>
                        </a:defRPr>
                      </a:pPr>
                      <a:r>
                        <a:t>O(n log n) with sorting</a:t>
                      </a:r>
                    </a:p>
                  </a:txBody>
                  <a:tcPr marL="109728">
                    <a:solidFill>
                      <a:srgbClr val="EBF3F8"/>
                    </a:solidFill>
                  </a:tcPr>
                </a:tc>
                <a:extLst>
                  <a:ext uri="{0D108BD9-81ED-4DB2-BD59-A6C34878D82A}">
                    <a16:rowId xmlns:a16="http://schemas.microsoft.com/office/drawing/2014/main" val="10004"/>
                  </a:ext>
                </a:extLst>
              </a:tr>
              <a:tr h="708660">
                <a:tc>
                  <a:txBody>
                    <a:bodyPr/>
                    <a:lstStyle/>
                    <a:p>
                      <a:pPr>
                        <a:defRPr sz="1200" b="1">
                          <a:solidFill>
                            <a:srgbClr val="233141"/>
                          </a:solidFill>
                          <a:latin typeface="Aptos"/>
                        </a:defRPr>
                      </a:pPr>
                      <a:r>
                        <a:t>Best fit</a:t>
                      </a:r>
                    </a:p>
                  </a:txBody>
                  <a:tcPr marL="109728">
                    <a:solidFill>
                      <a:srgbClr val="FFFFFF"/>
                    </a:solidFill>
                  </a:tcPr>
                </a:tc>
                <a:tc>
                  <a:txBody>
                    <a:bodyPr/>
                    <a:lstStyle/>
                    <a:p>
                      <a:pPr>
                        <a:defRPr sz="1200" b="0">
                          <a:solidFill>
                            <a:srgbClr val="233141"/>
                          </a:solidFill>
                          <a:latin typeface="Aptos"/>
                        </a:defRPr>
                      </a:pPr>
                      <a:r>
                        <a:t>0/1 Knapsack</a:t>
                      </a:r>
                    </a:p>
                  </a:txBody>
                  <a:tcPr marL="109728">
                    <a:solidFill>
                      <a:srgbClr val="FFFFFF"/>
                    </a:solidFill>
                  </a:tcPr>
                </a:tc>
                <a:tc>
                  <a:txBody>
                    <a:bodyPr/>
                    <a:lstStyle/>
                    <a:p>
                      <a:pPr>
                        <a:defRPr sz="1200" b="0">
                          <a:solidFill>
                            <a:srgbClr val="233141"/>
                          </a:solidFill>
                          <a:latin typeface="Aptos"/>
                        </a:defRPr>
                      </a:pPr>
                      <a:r>
                        <a:t>Fractional Knapsack</a:t>
                      </a:r>
                    </a:p>
                  </a:txBody>
                  <a:tcPr marL="109728">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914400" y="5806440"/>
            <a:ext cx="10332720" cy="365760"/>
          </a:xfrm>
          <a:prstGeom prst="rect">
            <a:avLst/>
          </a:prstGeom>
          <a:noFill/>
        </p:spPr>
        <p:txBody>
          <a:bodyPr wrap="square" lIns="54864" tIns="54864" rIns="54864" bIns="54864" anchor="t">
            <a:spAutoFit/>
          </a:bodyPr>
          <a:lstStyle/>
          <a:p>
            <a:pPr algn="ctr">
              <a:spcAft>
                <a:spcPts val="500"/>
              </a:spcAft>
              <a:defRPr sz="1600" b="1" i="0">
                <a:solidFill>
                  <a:srgbClr val="E2574C"/>
                </a:solidFill>
                <a:latin typeface="Aptos"/>
              </a:defRPr>
            </a:pPr>
            <a:r>
              <a:t>Do not use the fractional greedy rule as a general solution for 0/1 Knapsack.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502920"/>
          </a:xfrm>
          <a:prstGeom prst="rect">
            <a:avLst/>
          </a:prstGeom>
          <a:noFill/>
        </p:spPr>
        <p:txBody>
          <a:bodyPr wrap="square" lIns="54864" tIns="54864" rIns="54864" bIns="54864" anchor="t">
            <a:spAutoFit/>
          </a:bodyPr>
          <a:lstStyle/>
          <a:p>
            <a:pPr algn="l">
              <a:spcAft>
                <a:spcPts val="500"/>
              </a:spcAft>
              <a:defRPr sz="2700" b="1" i="0">
                <a:solidFill>
                  <a:srgbClr val="0F2340"/>
                </a:solidFill>
                <a:latin typeface="Aptos"/>
              </a:defRPr>
            </a:pPr>
            <a:r>
              <a:t>11. Real-World Applications</a:t>
            </a:r>
          </a:p>
        </p:txBody>
      </p:sp>
      <p:sp>
        <p:nvSpPr>
          <p:cNvPr id="3" name="Rectangle 2"/>
          <p:cNvSpPr/>
          <p:nvPr/>
        </p:nvSpPr>
        <p:spPr>
          <a:xfrm>
            <a:off x="530352" y="896112"/>
            <a:ext cx="914400" cy="50292"/>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509760" y="347472"/>
            <a:ext cx="2057400" cy="256032"/>
          </a:xfrm>
          <a:prstGeom prst="rect">
            <a:avLst/>
          </a:prstGeom>
          <a:noFill/>
        </p:spPr>
        <p:txBody>
          <a:bodyPr wrap="square" lIns="54864" tIns="54864" rIns="54864" bIns="54864" anchor="t">
            <a:spAutoFit/>
          </a:bodyPr>
          <a:lstStyle/>
          <a:p>
            <a:pPr algn="r">
              <a:spcAft>
                <a:spcPts val="500"/>
              </a:spcAft>
              <a:defRPr sz="900" b="1" i="0">
                <a:solidFill>
                  <a:srgbClr val="00B1A9"/>
                </a:solidFill>
                <a:latin typeface="Aptos"/>
              </a:defRPr>
            </a:pPr>
            <a:r>
              <a:t>APPLICATIONS</a:t>
            </a:r>
          </a:p>
        </p:txBody>
      </p:sp>
      <p:sp>
        <p:nvSpPr>
          <p:cNvPr id="5" name="TextBox 4"/>
          <p:cNvSpPr txBox="1"/>
          <p:nvPr/>
        </p:nvSpPr>
        <p:spPr>
          <a:xfrm>
            <a:off x="10789920" y="6528816"/>
            <a:ext cx="914400" cy="164592"/>
          </a:xfrm>
          <a:prstGeom prst="rect">
            <a:avLst/>
          </a:prstGeom>
          <a:noFill/>
        </p:spPr>
        <p:txBody>
          <a:bodyPr wrap="square" lIns="54864" tIns="54864" rIns="54864" bIns="54864" anchor="t">
            <a:spAutoFit/>
          </a:bodyPr>
          <a:lstStyle/>
          <a:p>
            <a:pPr algn="r">
              <a:spcAft>
                <a:spcPts val="500"/>
              </a:spcAft>
              <a:defRPr sz="800" b="0" i="0">
                <a:solidFill>
                  <a:srgbClr val="5E7082"/>
                </a:solidFill>
                <a:latin typeface="Aptos"/>
              </a:defRPr>
            </a:pPr>
            <a:r>
              <a:t>12  /  14</a:t>
            </a:r>
          </a:p>
        </p:txBody>
      </p:sp>
      <p:sp>
        <p:nvSpPr>
          <p:cNvPr id="6" name="Rounded Rectangle 5"/>
          <p:cNvSpPr/>
          <p:nvPr/>
        </p:nvSpPr>
        <p:spPr>
          <a:xfrm>
            <a:off x="685800" y="1371600"/>
            <a:ext cx="3429000" cy="164592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86968" y="1600200"/>
            <a:ext cx="502920" cy="502920"/>
          </a:xfrm>
          <a:prstGeom prst="ellipse">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728216"/>
            <a:ext cx="502920" cy="182880"/>
          </a:xfrm>
          <a:prstGeom prst="rect">
            <a:avLst/>
          </a:prstGeom>
          <a:noFill/>
        </p:spPr>
        <p:txBody>
          <a:bodyPr wrap="square" lIns="54864" tIns="54864" rIns="54864" bIns="54864" anchor="t">
            <a:spAutoFit/>
          </a:bodyPr>
          <a:lstStyle/>
          <a:p>
            <a:pPr algn="ctr">
              <a:spcAft>
                <a:spcPts val="500"/>
              </a:spcAft>
              <a:defRPr sz="1200" b="1" i="0">
                <a:solidFill>
                  <a:srgbClr val="FFFFFF"/>
                </a:solidFill>
                <a:latin typeface="Aptos"/>
              </a:defRPr>
            </a:pPr>
            <a:r>
              <a:t>1</a:t>
            </a:r>
          </a:p>
        </p:txBody>
      </p:sp>
      <p:sp>
        <p:nvSpPr>
          <p:cNvPr id="9" name="TextBox 8"/>
          <p:cNvSpPr txBox="1"/>
          <p:nvPr/>
        </p:nvSpPr>
        <p:spPr>
          <a:xfrm>
            <a:off x="1554480" y="1609344"/>
            <a:ext cx="2286000" cy="320040"/>
          </a:xfrm>
          <a:prstGeom prst="rect">
            <a:avLst/>
          </a:prstGeom>
          <a:noFill/>
        </p:spPr>
        <p:txBody>
          <a:bodyPr wrap="square" lIns="54864" tIns="54864" rIns="54864" bIns="54864" anchor="t">
            <a:spAutoFit/>
          </a:bodyPr>
          <a:lstStyle/>
          <a:p>
            <a:pPr algn="l">
              <a:spcAft>
                <a:spcPts val="500"/>
              </a:spcAft>
              <a:defRPr sz="1600" b="1" i="0">
                <a:solidFill>
                  <a:srgbClr val="0F2340"/>
                </a:solidFill>
                <a:latin typeface="Aptos"/>
              </a:defRPr>
            </a:pPr>
            <a:r>
              <a:t>Cargo &amp; luggage</a:t>
            </a:r>
          </a:p>
        </p:txBody>
      </p:sp>
      <p:sp>
        <p:nvSpPr>
          <p:cNvPr id="10" name="TextBox 9"/>
          <p:cNvSpPr txBox="1"/>
          <p:nvPr/>
        </p:nvSpPr>
        <p:spPr>
          <a:xfrm>
            <a:off x="914400" y="2194560"/>
            <a:ext cx="2971800" cy="594360"/>
          </a:xfrm>
          <a:prstGeom prst="rect">
            <a:avLst/>
          </a:prstGeom>
          <a:noFill/>
        </p:spPr>
        <p:txBody>
          <a:bodyPr wrap="square" lIns="54864" tIns="54864" rIns="54864" bIns="54864" anchor="t">
            <a:spAutoFit/>
          </a:bodyPr>
          <a:lstStyle/>
          <a:p>
            <a:pPr algn="l">
              <a:spcAft>
                <a:spcPts val="500"/>
              </a:spcAft>
              <a:defRPr sz="1300" b="0" i="0">
                <a:solidFill>
                  <a:srgbClr val="233141"/>
                </a:solidFill>
                <a:latin typeface="Aptos"/>
              </a:defRPr>
            </a:pPr>
            <a:r>
              <a:t>Select valuable cargo while respecting weight limits.</a:t>
            </a:r>
          </a:p>
        </p:txBody>
      </p:sp>
      <p:sp>
        <p:nvSpPr>
          <p:cNvPr id="11" name="Rounded Rectangle 10"/>
          <p:cNvSpPr/>
          <p:nvPr/>
        </p:nvSpPr>
        <p:spPr>
          <a:xfrm>
            <a:off x="4480560" y="1371600"/>
            <a:ext cx="3429000" cy="164592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681728" y="1600200"/>
            <a:ext cx="502920" cy="502920"/>
          </a:xfrm>
          <a:prstGeom prst="ellipse">
            <a:avLst/>
          </a:prstGeom>
          <a:solidFill>
            <a:srgbClr val="FFBE4B"/>
          </a:solidFill>
          <a:ln>
            <a:solidFill>
              <a:srgbClr val="FFBE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81728" y="1728216"/>
            <a:ext cx="502920" cy="182880"/>
          </a:xfrm>
          <a:prstGeom prst="rect">
            <a:avLst/>
          </a:prstGeom>
          <a:noFill/>
        </p:spPr>
        <p:txBody>
          <a:bodyPr wrap="square" lIns="54864" tIns="54864" rIns="54864" bIns="54864" anchor="t">
            <a:spAutoFit/>
          </a:bodyPr>
          <a:lstStyle/>
          <a:p>
            <a:pPr algn="ctr">
              <a:spcAft>
                <a:spcPts val="500"/>
              </a:spcAft>
              <a:defRPr sz="1200" b="1" i="0">
                <a:solidFill>
                  <a:srgbClr val="FFFFFF"/>
                </a:solidFill>
                <a:latin typeface="Aptos"/>
              </a:defRPr>
            </a:pPr>
            <a:r>
              <a:t>2</a:t>
            </a:r>
          </a:p>
        </p:txBody>
      </p:sp>
      <p:sp>
        <p:nvSpPr>
          <p:cNvPr id="14" name="TextBox 13"/>
          <p:cNvSpPr txBox="1"/>
          <p:nvPr/>
        </p:nvSpPr>
        <p:spPr>
          <a:xfrm>
            <a:off x="5349240" y="1609344"/>
            <a:ext cx="2286000" cy="320040"/>
          </a:xfrm>
          <a:prstGeom prst="rect">
            <a:avLst/>
          </a:prstGeom>
          <a:noFill/>
        </p:spPr>
        <p:txBody>
          <a:bodyPr wrap="square" lIns="54864" tIns="54864" rIns="54864" bIns="54864" anchor="t">
            <a:spAutoFit/>
          </a:bodyPr>
          <a:lstStyle/>
          <a:p>
            <a:pPr algn="l">
              <a:spcAft>
                <a:spcPts val="500"/>
              </a:spcAft>
              <a:defRPr sz="1600" b="1" i="0">
                <a:solidFill>
                  <a:srgbClr val="0F2340"/>
                </a:solidFill>
                <a:latin typeface="Aptos"/>
              </a:defRPr>
            </a:pPr>
            <a:r>
              <a:t>Budget allocation</a:t>
            </a:r>
          </a:p>
        </p:txBody>
      </p:sp>
      <p:sp>
        <p:nvSpPr>
          <p:cNvPr id="15" name="TextBox 14"/>
          <p:cNvSpPr txBox="1"/>
          <p:nvPr/>
        </p:nvSpPr>
        <p:spPr>
          <a:xfrm>
            <a:off x="4709160" y="2194560"/>
            <a:ext cx="2971800" cy="594360"/>
          </a:xfrm>
          <a:prstGeom prst="rect">
            <a:avLst/>
          </a:prstGeom>
          <a:noFill/>
        </p:spPr>
        <p:txBody>
          <a:bodyPr wrap="square" lIns="54864" tIns="54864" rIns="54864" bIns="54864" anchor="t">
            <a:spAutoFit/>
          </a:bodyPr>
          <a:lstStyle/>
          <a:p>
            <a:pPr algn="l">
              <a:spcAft>
                <a:spcPts val="500"/>
              </a:spcAft>
              <a:defRPr sz="1300" b="0" i="0">
                <a:solidFill>
                  <a:srgbClr val="233141"/>
                </a:solidFill>
                <a:latin typeface="Aptos"/>
              </a:defRPr>
            </a:pPr>
            <a:r>
              <a:t>Choose projects with the best return within a fixed budget.</a:t>
            </a:r>
          </a:p>
        </p:txBody>
      </p:sp>
      <p:sp>
        <p:nvSpPr>
          <p:cNvPr id="16" name="Rounded Rectangle 15"/>
          <p:cNvSpPr/>
          <p:nvPr/>
        </p:nvSpPr>
        <p:spPr>
          <a:xfrm>
            <a:off x="8275320" y="1371600"/>
            <a:ext cx="3429000" cy="164592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76488" y="1600200"/>
            <a:ext cx="502920" cy="502920"/>
          </a:xfrm>
          <a:prstGeom prst="ellipse">
            <a:avLst/>
          </a:prstGeom>
          <a:solidFill>
            <a:srgbClr val="269170"/>
          </a:solidFill>
          <a:ln>
            <a:solidFill>
              <a:srgbClr val="2691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76488" y="1728216"/>
            <a:ext cx="502920" cy="182880"/>
          </a:xfrm>
          <a:prstGeom prst="rect">
            <a:avLst/>
          </a:prstGeom>
          <a:noFill/>
        </p:spPr>
        <p:txBody>
          <a:bodyPr wrap="square" lIns="54864" tIns="54864" rIns="54864" bIns="54864" anchor="t">
            <a:spAutoFit/>
          </a:bodyPr>
          <a:lstStyle/>
          <a:p>
            <a:pPr algn="ctr">
              <a:spcAft>
                <a:spcPts val="500"/>
              </a:spcAft>
              <a:defRPr sz="1200" b="1" i="0">
                <a:solidFill>
                  <a:srgbClr val="FFFFFF"/>
                </a:solidFill>
                <a:latin typeface="Aptos"/>
              </a:defRPr>
            </a:pPr>
            <a:r>
              <a:t>3</a:t>
            </a:r>
          </a:p>
        </p:txBody>
      </p:sp>
      <p:sp>
        <p:nvSpPr>
          <p:cNvPr id="19" name="TextBox 18"/>
          <p:cNvSpPr txBox="1"/>
          <p:nvPr/>
        </p:nvSpPr>
        <p:spPr>
          <a:xfrm>
            <a:off x="9144000" y="1609344"/>
            <a:ext cx="2286000" cy="320040"/>
          </a:xfrm>
          <a:prstGeom prst="rect">
            <a:avLst/>
          </a:prstGeom>
          <a:noFill/>
        </p:spPr>
        <p:txBody>
          <a:bodyPr wrap="square" lIns="54864" tIns="54864" rIns="54864" bIns="54864" anchor="t">
            <a:spAutoFit/>
          </a:bodyPr>
          <a:lstStyle/>
          <a:p>
            <a:pPr algn="l">
              <a:spcAft>
                <a:spcPts val="500"/>
              </a:spcAft>
              <a:defRPr sz="1600" b="1" i="0">
                <a:solidFill>
                  <a:srgbClr val="0F2340"/>
                </a:solidFill>
                <a:latin typeface="Aptos"/>
              </a:defRPr>
            </a:pPr>
            <a:r>
              <a:t>Resource allocation</a:t>
            </a:r>
          </a:p>
        </p:txBody>
      </p:sp>
      <p:sp>
        <p:nvSpPr>
          <p:cNvPr id="20" name="TextBox 19"/>
          <p:cNvSpPr txBox="1"/>
          <p:nvPr/>
        </p:nvSpPr>
        <p:spPr>
          <a:xfrm>
            <a:off x="8503920" y="2194560"/>
            <a:ext cx="2971800" cy="594360"/>
          </a:xfrm>
          <a:prstGeom prst="rect">
            <a:avLst/>
          </a:prstGeom>
          <a:noFill/>
        </p:spPr>
        <p:txBody>
          <a:bodyPr wrap="square" lIns="54864" tIns="54864" rIns="54864" bIns="54864" anchor="t">
            <a:spAutoFit/>
          </a:bodyPr>
          <a:lstStyle/>
          <a:p>
            <a:pPr algn="l">
              <a:spcAft>
                <a:spcPts val="500"/>
              </a:spcAft>
              <a:defRPr sz="1300" b="0" i="0">
                <a:solidFill>
                  <a:srgbClr val="233141"/>
                </a:solidFill>
                <a:latin typeface="Aptos"/>
              </a:defRPr>
            </a:pPr>
            <a:r>
              <a:t>Assign limited computing time, energy or equipment.</a:t>
            </a:r>
          </a:p>
        </p:txBody>
      </p:sp>
      <p:sp>
        <p:nvSpPr>
          <p:cNvPr id="21" name="Rounded Rectangle 20"/>
          <p:cNvSpPr/>
          <p:nvPr/>
        </p:nvSpPr>
        <p:spPr>
          <a:xfrm>
            <a:off x="685800" y="3520440"/>
            <a:ext cx="3429000" cy="164592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86968" y="3749039"/>
            <a:ext cx="502920" cy="502920"/>
          </a:xfrm>
          <a:prstGeom prst="ellipse">
            <a:avLst/>
          </a:prstGeom>
          <a:solidFill>
            <a:srgbClr val="E2574C"/>
          </a:solidFill>
          <a:ln>
            <a:solidFill>
              <a:srgbClr val="E25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86968" y="3877056"/>
            <a:ext cx="502920" cy="182880"/>
          </a:xfrm>
          <a:prstGeom prst="rect">
            <a:avLst/>
          </a:prstGeom>
          <a:noFill/>
        </p:spPr>
        <p:txBody>
          <a:bodyPr wrap="square" lIns="54864" tIns="54864" rIns="54864" bIns="54864" anchor="t">
            <a:spAutoFit/>
          </a:bodyPr>
          <a:lstStyle/>
          <a:p>
            <a:pPr algn="ctr">
              <a:spcAft>
                <a:spcPts val="500"/>
              </a:spcAft>
              <a:defRPr sz="1200" b="1" i="0">
                <a:solidFill>
                  <a:srgbClr val="FFFFFF"/>
                </a:solidFill>
                <a:latin typeface="Aptos"/>
              </a:defRPr>
            </a:pPr>
            <a:r>
              <a:t>4</a:t>
            </a:r>
          </a:p>
        </p:txBody>
      </p:sp>
      <p:sp>
        <p:nvSpPr>
          <p:cNvPr id="24" name="TextBox 23"/>
          <p:cNvSpPr txBox="1"/>
          <p:nvPr/>
        </p:nvSpPr>
        <p:spPr>
          <a:xfrm>
            <a:off x="1554480" y="3758184"/>
            <a:ext cx="2286000" cy="320040"/>
          </a:xfrm>
          <a:prstGeom prst="rect">
            <a:avLst/>
          </a:prstGeom>
          <a:noFill/>
        </p:spPr>
        <p:txBody>
          <a:bodyPr wrap="square" lIns="54864" tIns="54864" rIns="54864" bIns="54864" anchor="t">
            <a:spAutoFit/>
          </a:bodyPr>
          <a:lstStyle/>
          <a:p>
            <a:pPr algn="l">
              <a:spcAft>
                <a:spcPts val="500"/>
              </a:spcAft>
              <a:defRPr sz="1600" b="1" i="0">
                <a:solidFill>
                  <a:srgbClr val="0F2340"/>
                </a:solidFill>
                <a:latin typeface="Aptos"/>
              </a:defRPr>
            </a:pPr>
            <a:r>
              <a:t>Investment selection</a:t>
            </a:r>
          </a:p>
        </p:txBody>
      </p:sp>
      <p:sp>
        <p:nvSpPr>
          <p:cNvPr id="25" name="TextBox 24"/>
          <p:cNvSpPr txBox="1"/>
          <p:nvPr/>
        </p:nvSpPr>
        <p:spPr>
          <a:xfrm>
            <a:off x="914400" y="4343400"/>
            <a:ext cx="2971800" cy="594360"/>
          </a:xfrm>
          <a:prstGeom prst="rect">
            <a:avLst/>
          </a:prstGeom>
          <a:noFill/>
        </p:spPr>
        <p:txBody>
          <a:bodyPr wrap="square" lIns="54864" tIns="54864" rIns="54864" bIns="54864" anchor="t">
            <a:spAutoFit/>
          </a:bodyPr>
          <a:lstStyle/>
          <a:p>
            <a:pPr algn="l">
              <a:spcAft>
                <a:spcPts val="500"/>
              </a:spcAft>
              <a:defRPr sz="1300" b="0" i="0">
                <a:solidFill>
                  <a:srgbClr val="233141"/>
                </a:solidFill>
                <a:latin typeface="Aptos"/>
              </a:defRPr>
            </a:pPr>
            <a:r>
              <a:t>Balance potential returns against a capital limit.</a:t>
            </a:r>
          </a:p>
        </p:txBody>
      </p:sp>
      <p:sp>
        <p:nvSpPr>
          <p:cNvPr id="26" name="Rounded Rectangle 25"/>
          <p:cNvSpPr/>
          <p:nvPr/>
        </p:nvSpPr>
        <p:spPr>
          <a:xfrm>
            <a:off x="4480560" y="3520440"/>
            <a:ext cx="3429000" cy="164592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681728" y="3749039"/>
            <a:ext cx="502920" cy="502920"/>
          </a:xfrm>
          <a:prstGeom prst="ellipse">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681728" y="3877056"/>
            <a:ext cx="502920" cy="182880"/>
          </a:xfrm>
          <a:prstGeom prst="rect">
            <a:avLst/>
          </a:prstGeom>
          <a:noFill/>
        </p:spPr>
        <p:txBody>
          <a:bodyPr wrap="square" lIns="54864" tIns="54864" rIns="54864" bIns="54864" anchor="t">
            <a:spAutoFit/>
          </a:bodyPr>
          <a:lstStyle/>
          <a:p>
            <a:pPr algn="ctr">
              <a:spcAft>
                <a:spcPts val="500"/>
              </a:spcAft>
              <a:defRPr sz="1200" b="1" i="0">
                <a:solidFill>
                  <a:srgbClr val="FFFFFF"/>
                </a:solidFill>
                <a:latin typeface="Aptos"/>
              </a:defRPr>
            </a:pPr>
            <a:r>
              <a:t>5</a:t>
            </a:r>
          </a:p>
        </p:txBody>
      </p:sp>
      <p:sp>
        <p:nvSpPr>
          <p:cNvPr id="29" name="TextBox 28"/>
          <p:cNvSpPr txBox="1"/>
          <p:nvPr/>
        </p:nvSpPr>
        <p:spPr>
          <a:xfrm>
            <a:off x="5349240" y="3758184"/>
            <a:ext cx="2286000" cy="320040"/>
          </a:xfrm>
          <a:prstGeom prst="rect">
            <a:avLst/>
          </a:prstGeom>
          <a:noFill/>
        </p:spPr>
        <p:txBody>
          <a:bodyPr wrap="square" lIns="54864" tIns="54864" rIns="54864" bIns="54864" anchor="t">
            <a:spAutoFit/>
          </a:bodyPr>
          <a:lstStyle/>
          <a:p>
            <a:pPr algn="l">
              <a:spcAft>
                <a:spcPts val="500"/>
              </a:spcAft>
              <a:defRPr sz="1600" b="1" i="0">
                <a:solidFill>
                  <a:srgbClr val="0F2340"/>
                </a:solidFill>
                <a:latin typeface="Aptos"/>
              </a:defRPr>
            </a:pPr>
            <a:r>
              <a:t>Storage planning</a:t>
            </a:r>
          </a:p>
        </p:txBody>
      </p:sp>
      <p:sp>
        <p:nvSpPr>
          <p:cNvPr id="30" name="TextBox 29"/>
          <p:cNvSpPr txBox="1"/>
          <p:nvPr/>
        </p:nvSpPr>
        <p:spPr>
          <a:xfrm>
            <a:off x="4709160" y="4343400"/>
            <a:ext cx="2971800" cy="594360"/>
          </a:xfrm>
          <a:prstGeom prst="rect">
            <a:avLst/>
          </a:prstGeom>
          <a:noFill/>
        </p:spPr>
        <p:txBody>
          <a:bodyPr wrap="square" lIns="54864" tIns="54864" rIns="54864" bIns="54864" anchor="t">
            <a:spAutoFit/>
          </a:bodyPr>
          <a:lstStyle/>
          <a:p>
            <a:pPr algn="l">
              <a:spcAft>
                <a:spcPts val="500"/>
              </a:spcAft>
              <a:defRPr sz="1300" b="0" i="0">
                <a:solidFill>
                  <a:srgbClr val="233141"/>
                </a:solidFill>
                <a:latin typeface="Aptos"/>
              </a:defRPr>
            </a:pPr>
            <a:r>
              <a:t>Choose data or objects under a memory/capacity limit.</a:t>
            </a:r>
          </a:p>
        </p:txBody>
      </p:sp>
      <p:sp>
        <p:nvSpPr>
          <p:cNvPr id="31" name="TextBox 30"/>
          <p:cNvSpPr txBox="1"/>
          <p:nvPr/>
        </p:nvSpPr>
        <p:spPr>
          <a:xfrm>
            <a:off x="1097280" y="5989320"/>
            <a:ext cx="9966960" cy="320040"/>
          </a:xfrm>
          <a:prstGeom prst="rect">
            <a:avLst/>
          </a:prstGeom>
          <a:noFill/>
        </p:spPr>
        <p:txBody>
          <a:bodyPr wrap="square" lIns="54864" tIns="54864" rIns="54864" bIns="54864" anchor="t">
            <a:spAutoFit/>
          </a:bodyPr>
          <a:lstStyle/>
          <a:p>
            <a:pPr algn="ctr">
              <a:spcAft>
                <a:spcPts val="500"/>
              </a:spcAft>
              <a:defRPr sz="1600" b="1" i="0">
                <a:solidFill>
                  <a:srgbClr val="00B1A9"/>
                </a:solidFill>
                <a:latin typeface="Aptos"/>
              </a:defRPr>
            </a:pPr>
            <a:r>
              <a:t>The common pattern: limited capacity + competing choices + measurable value.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1155680" cy="502920"/>
          </a:xfrm>
          <a:prstGeom prst="rect">
            <a:avLst/>
          </a:prstGeom>
          <a:noFill/>
        </p:spPr>
        <p:txBody>
          <a:bodyPr wrap="square" lIns="54864" tIns="54864" rIns="54864" bIns="54864" anchor="t">
            <a:spAutoFit/>
          </a:bodyPr>
          <a:lstStyle/>
          <a:p>
            <a:pPr algn="l">
              <a:spcAft>
                <a:spcPts val="500"/>
              </a:spcAft>
              <a:defRPr sz="2700" b="1" i="0">
                <a:solidFill>
                  <a:srgbClr val="0F2340"/>
                </a:solidFill>
                <a:latin typeface="Aptos"/>
              </a:defRPr>
            </a:pPr>
            <a:r>
              <a:t>12. Advantages &amp; Limitations</a:t>
            </a:r>
          </a:p>
        </p:txBody>
      </p:sp>
      <p:sp>
        <p:nvSpPr>
          <p:cNvPr id="3" name="Rectangle 2"/>
          <p:cNvSpPr/>
          <p:nvPr/>
        </p:nvSpPr>
        <p:spPr>
          <a:xfrm>
            <a:off x="530352" y="896112"/>
            <a:ext cx="914400" cy="50292"/>
          </a:xfrm>
          <a:prstGeom prst="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509760" y="347472"/>
            <a:ext cx="2057400" cy="256032"/>
          </a:xfrm>
          <a:prstGeom prst="rect">
            <a:avLst/>
          </a:prstGeom>
          <a:noFill/>
        </p:spPr>
        <p:txBody>
          <a:bodyPr wrap="square" lIns="54864" tIns="54864" rIns="54864" bIns="54864" anchor="t">
            <a:spAutoFit/>
          </a:bodyPr>
          <a:lstStyle/>
          <a:p>
            <a:pPr algn="r">
              <a:spcAft>
                <a:spcPts val="500"/>
              </a:spcAft>
              <a:defRPr sz="900" b="1" i="0">
                <a:solidFill>
                  <a:srgbClr val="00B1A9"/>
                </a:solidFill>
                <a:latin typeface="Aptos"/>
              </a:defRPr>
            </a:pPr>
            <a:r>
              <a:t>EVALUATION</a:t>
            </a:r>
          </a:p>
        </p:txBody>
      </p:sp>
      <p:sp>
        <p:nvSpPr>
          <p:cNvPr id="5" name="TextBox 4"/>
          <p:cNvSpPr txBox="1"/>
          <p:nvPr/>
        </p:nvSpPr>
        <p:spPr>
          <a:xfrm>
            <a:off x="10789920" y="6528816"/>
            <a:ext cx="914400" cy="164592"/>
          </a:xfrm>
          <a:prstGeom prst="rect">
            <a:avLst/>
          </a:prstGeom>
          <a:noFill/>
        </p:spPr>
        <p:txBody>
          <a:bodyPr wrap="square" lIns="54864" tIns="54864" rIns="54864" bIns="54864" anchor="t">
            <a:spAutoFit/>
          </a:bodyPr>
          <a:lstStyle/>
          <a:p>
            <a:pPr algn="r">
              <a:spcAft>
                <a:spcPts val="500"/>
              </a:spcAft>
              <a:defRPr sz="800" b="0" i="0">
                <a:solidFill>
                  <a:srgbClr val="5E7082"/>
                </a:solidFill>
                <a:latin typeface="Aptos"/>
              </a:defRPr>
            </a:pPr>
            <a:r>
              <a:t>13  /  14</a:t>
            </a:r>
          </a:p>
        </p:txBody>
      </p:sp>
      <p:sp>
        <p:nvSpPr>
          <p:cNvPr id="6" name="Rounded Rectangle 5"/>
          <p:cNvSpPr/>
          <p:nvPr/>
        </p:nvSpPr>
        <p:spPr>
          <a:xfrm>
            <a:off x="685800" y="1325880"/>
            <a:ext cx="5257800" cy="452628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325880"/>
            <a:ext cx="91440" cy="4526280"/>
          </a:xfrm>
          <a:prstGeom prst="rect">
            <a:avLst/>
          </a:prstGeom>
          <a:solidFill>
            <a:srgbClr val="269170"/>
          </a:solidFill>
          <a:ln>
            <a:solidFill>
              <a:srgbClr val="2691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645920"/>
            <a:ext cx="4389120" cy="365760"/>
          </a:xfrm>
          <a:prstGeom prst="rect">
            <a:avLst/>
          </a:prstGeom>
          <a:noFill/>
        </p:spPr>
        <p:txBody>
          <a:bodyPr wrap="square" lIns="54864" tIns="54864" rIns="54864" bIns="54864" anchor="t">
            <a:spAutoFit/>
          </a:bodyPr>
          <a:lstStyle/>
          <a:p>
            <a:pPr algn="l">
              <a:spcAft>
                <a:spcPts val="500"/>
              </a:spcAft>
              <a:defRPr sz="1800" b="1" i="0">
                <a:solidFill>
                  <a:srgbClr val="269170"/>
                </a:solidFill>
                <a:latin typeface="Aptos"/>
              </a:defRPr>
            </a:pPr>
            <a:r>
              <a:t>ADVANTAGES</a:t>
            </a:r>
          </a:p>
        </p:txBody>
      </p:sp>
      <p:sp>
        <p:nvSpPr>
          <p:cNvPr id="9" name="TextBox 8"/>
          <p:cNvSpPr txBox="1"/>
          <p:nvPr/>
        </p:nvSpPr>
        <p:spPr>
          <a:xfrm>
            <a:off x="1005840" y="2240280"/>
            <a:ext cx="4434840" cy="3017520"/>
          </a:xfrm>
          <a:prstGeom prst="rect">
            <a:avLst/>
          </a:prstGeom>
          <a:noFill/>
        </p:spPr>
        <p:txBody>
          <a:bodyPr wrap="square" lIns="73152" tIns="54864" rIns="73152" bIns="36576">
            <a:spAutoFit/>
          </a:bodyPr>
          <a:lstStyle/>
          <a:p>
            <a:pPr>
              <a:spcAft>
                <a:spcPts val="1500"/>
              </a:spcAft>
              <a:defRPr sz="1600">
                <a:solidFill>
                  <a:srgbClr val="233141"/>
                </a:solidFill>
                <a:latin typeface="Aptos"/>
              </a:defRPr>
            </a:pPr>
            <a:r>
              <a:t>Optimizes limited resources systematically.</a:t>
            </a:r>
          </a:p>
          <a:p>
            <a:pPr>
              <a:spcAft>
                <a:spcPts val="1500"/>
              </a:spcAft>
              <a:defRPr sz="1600">
                <a:solidFill>
                  <a:srgbClr val="233141"/>
                </a:solidFill>
                <a:latin typeface="Aptos"/>
              </a:defRPr>
            </a:pPr>
            <a:r>
              <a:t>Exact DP gives an optimal solution for 0/1 Knapsack.</a:t>
            </a:r>
          </a:p>
          <a:p>
            <a:pPr>
              <a:spcAft>
                <a:spcPts val="1500"/>
              </a:spcAft>
              <a:defRPr sz="1600">
                <a:solidFill>
                  <a:srgbClr val="233141"/>
                </a:solidFill>
                <a:latin typeface="Aptos"/>
              </a:defRPr>
            </a:pPr>
            <a:r>
              <a:t>Greedy is efficient and optimal for Fractional Knapsack.</a:t>
            </a:r>
          </a:p>
          <a:p>
            <a:pPr>
              <a:spcAft>
                <a:spcPts val="1500"/>
              </a:spcAft>
              <a:defRPr sz="1600">
                <a:solidFill>
                  <a:srgbClr val="233141"/>
                </a:solidFill>
                <a:latin typeface="Aptos"/>
              </a:defRPr>
            </a:pPr>
            <a:r>
              <a:t>Provides a clear framework for comparing trade-offs.</a:t>
            </a:r>
          </a:p>
        </p:txBody>
      </p:sp>
      <p:sp>
        <p:nvSpPr>
          <p:cNvPr id="10" name="Rounded Rectangle 9"/>
          <p:cNvSpPr/>
          <p:nvPr/>
        </p:nvSpPr>
        <p:spPr>
          <a:xfrm>
            <a:off x="6263640" y="1325880"/>
            <a:ext cx="5257800" cy="4526280"/>
          </a:xfrm>
          <a:prstGeom prst="roundRect">
            <a:avLst/>
          </a:prstGeom>
          <a:solidFill>
            <a:srgbClr val="FFFFFF"/>
          </a:solidFill>
          <a:ln>
            <a:solidFill>
              <a:srgbClr val="E4E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325880"/>
            <a:ext cx="91440" cy="4526280"/>
          </a:xfrm>
          <a:prstGeom prst="rect">
            <a:avLst/>
          </a:prstGeom>
          <a:solidFill>
            <a:srgbClr val="E2574C"/>
          </a:solidFill>
          <a:ln>
            <a:solidFill>
              <a:srgbClr val="E257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0" y="1645920"/>
            <a:ext cx="4389120" cy="365760"/>
          </a:xfrm>
          <a:prstGeom prst="rect">
            <a:avLst/>
          </a:prstGeom>
          <a:noFill/>
        </p:spPr>
        <p:txBody>
          <a:bodyPr wrap="square" lIns="54864" tIns="54864" rIns="54864" bIns="54864" anchor="t">
            <a:spAutoFit/>
          </a:bodyPr>
          <a:lstStyle/>
          <a:p>
            <a:pPr algn="l">
              <a:spcAft>
                <a:spcPts val="500"/>
              </a:spcAft>
              <a:defRPr sz="1800" b="1" i="0">
                <a:solidFill>
                  <a:srgbClr val="E2574C"/>
                </a:solidFill>
                <a:latin typeface="Aptos"/>
              </a:defRPr>
            </a:pPr>
            <a:r>
              <a:t>LIMITATIONS</a:t>
            </a:r>
          </a:p>
        </p:txBody>
      </p:sp>
      <p:sp>
        <p:nvSpPr>
          <p:cNvPr id="13" name="TextBox 12"/>
          <p:cNvSpPr txBox="1"/>
          <p:nvPr/>
        </p:nvSpPr>
        <p:spPr>
          <a:xfrm>
            <a:off x="6583680" y="2240280"/>
            <a:ext cx="4434840" cy="3017520"/>
          </a:xfrm>
          <a:prstGeom prst="rect">
            <a:avLst/>
          </a:prstGeom>
          <a:noFill/>
        </p:spPr>
        <p:txBody>
          <a:bodyPr wrap="square" lIns="73152" tIns="54864" rIns="73152" bIns="36576">
            <a:spAutoFit/>
          </a:bodyPr>
          <a:lstStyle/>
          <a:p>
            <a:pPr>
              <a:spcAft>
                <a:spcPts val="1500"/>
              </a:spcAft>
              <a:defRPr sz="1600">
                <a:solidFill>
                  <a:srgbClr val="233141"/>
                </a:solidFill>
                <a:latin typeface="Aptos"/>
              </a:defRPr>
            </a:pPr>
            <a:r>
              <a:t>Full DP tables can use substantial memory.</a:t>
            </a:r>
          </a:p>
          <a:p>
            <a:pPr>
              <a:spcAft>
                <a:spcPts val="1500"/>
              </a:spcAft>
              <a:defRPr sz="1600">
                <a:solidFill>
                  <a:srgbClr val="233141"/>
                </a:solidFill>
                <a:latin typeface="Aptos"/>
              </a:defRPr>
            </a:pPr>
            <a:r>
              <a:t>Runtime grows with large numeric capacity W.</a:t>
            </a:r>
          </a:p>
          <a:p>
            <a:pPr>
              <a:spcAft>
                <a:spcPts val="1500"/>
              </a:spcAft>
              <a:defRPr sz="1600">
                <a:solidFill>
                  <a:srgbClr val="233141"/>
                </a:solidFill>
                <a:latin typeface="Aptos"/>
              </a:defRPr>
            </a:pPr>
            <a:r>
              <a:t>Greedy is not guaranteed to solve 0/1 optimally.</a:t>
            </a:r>
          </a:p>
          <a:p>
            <a:pPr>
              <a:spcAft>
                <a:spcPts val="1500"/>
              </a:spcAft>
              <a:defRPr sz="1600">
                <a:solidFill>
                  <a:srgbClr val="233141"/>
                </a:solidFill>
                <a:latin typeface="Aptos"/>
              </a:defRPr>
            </a:pPr>
            <a:r>
              <a:t>Basic models may omit real-world constraints.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2340"/>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5029200" cy="411480"/>
          </a:xfrm>
          <a:prstGeom prst="rect">
            <a:avLst/>
          </a:prstGeom>
          <a:noFill/>
        </p:spPr>
        <p:txBody>
          <a:bodyPr wrap="square" lIns="54864" tIns="54864" rIns="54864" bIns="54864" anchor="t">
            <a:spAutoFit/>
          </a:bodyPr>
          <a:lstStyle/>
          <a:p>
            <a:pPr algn="l">
              <a:spcAft>
                <a:spcPts val="500"/>
              </a:spcAft>
              <a:defRPr sz="2000" b="1" i="0">
                <a:solidFill>
                  <a:srgbClr val="00B1A9"/>
                </a:solidFill>
                <a:latin typeface="Aptos"/>
              </a:defRPr>
            </a:pPr>
            <a:r>
              <a:t>13. CONCLUSION</a:t>
            </a:r>
          </a:p>
        </p:txBody>
      </p:sp>
      <p:sp>
        <p:nvSpPr>
          <p:cNvPr id="3" name="TextBox 2"/>
          <p:cNvSpPr txBox="1"/>
          <p:nvPr/>
        </p:nvSpPr>
        <p:spPr>
          <a:xfrm>
            <a:off x="640080" y="960120"/>
            <a:ext cx="4846320" cy="1188720"/>
          </a:xfrm>
          <a:prstGeom prst="rect">
            <a:avLst/>
          </a:prstGeom>
          <a:noFill/>
        </p:spPr>
        <p:txBody>
          <a:bodyPr wrap="square" lIns="54864" tIns="54864" rIns="54864" bIns="54864" anchor="t">
            <a:spAutoFit/>
          </a:bodyPr>
          <a:lstStyle/>
          <a:p>
            <a:pPr algn="l">
              <a:spcAft>
                <a:spcPts val="500"/>
              </a:spcAft>
              <a:defRPr sz="3000" b="1" i="0">
                <a:solidFill>
                  <a:srgbClr val="FFFFFF"/>
                </a:solidFill>
                <a:latin typeface="Aptos"/>
              </a:defRPr>
            </a:pPr>
            <a:r>
              <a:t>Choose wisely.</a:t>
            </a:r>
          </a:p>
          <a:p>
            <a:pPr algn="l">
              <a:spcAft>
                <a:spcPts val="500"/>
              </a:spcAft>
              <a:defRPr sz="3000" b="1" i="0">
                <a:solidFill>
                  <a:srgbClr val="FFFFFF"/>
                </a:solidFill>
                <a:latin typeface="Aptos"/>
              </a:defRPr>
            </a:pPr>
            <a:r>
              <a:t>Maximize value.</a:t>
            </a:r>
          </a:p>
        </p:txBody>
      </p:sp>
      <p:sp>
        <p:nvSpPr>
          <p:cNvPr id="4" name="TextBox 3"/>
          <p:cNvSpPr txBox="1"/>
          <p:nvPr/>
        </p:nvSpPr>
        <p:spPr>
          <a:xfrm>
            <a:off x="685800" y="2423160"/>
            <a:ext cx="5212080" cy="2468880"/>
          </a:xfrm>
          <a:prstGeom prst="rect">
            <a:avLst/>
          </a:prstGeom>
          <a:noFill/>
        </p:spPr>
        <p:txBody>
          <a:bodyPr wrap="square" lIns="73152" tIns="54864" rIns="73152" bIns="36576">
            <a:spAutoFit/>
          </a:bodyPr>
          <a:lstStyle/>
          <a:p>
            <a:pPr>
              <a:spcAft>
                <a:spcPts val="900"/>
              </a:spcAft>
              <a:defRPr sz="1500">
                <a:solidFill>
                  <a:srgbClr val="FFFFFF"/>
                </a:solidFill>
                <a:latin typeface="Aptos"/>
              </a:defRPr>
            </a:pPr>
            <a:r>
              <a:rPr dirty="0"/>
              <a:t>Knapsack models value maximization under a capacity limit.</a:t>
            </a:r>
          </a:p>
          <a:p>
            <a:pPr>
              <a:spcAft>
                <a:spcPts val="900"/>
              </a:spcAft>
              <a:defRPr sz="1500">
                <a:solidFill>
                  <a:srgbClr val="FFFFFF"/>
                </a:solidFill>
                <a:latin typeface="Aptos"/>
              </a:defRPr>
            </a:pPr>
            <a:r>
              <a:rPr dirty="0"/>
              <a:t>0/1 Knapsack is commonly solved by dynamic programming.</a:t>
            </a:r>
          </a:p>
          <a:p>
            <a:pPr>
              <a:spcAft>
                <a:spcPts val="900"/>
              </a:spcAft>
              <a:defRPr sz="1500">
                <a:solidFill>
                  <a:srgbClr val="FFFFFF"/>
                </a:solidFill>
                <a:latin typeface="Aptos"/>
              </a:defRPr>
            </a:pPr>
            <a:r>
              <a:rPr dirty="0"/>
              <a:t>Fractional Knapsack is optimally solved by a ratio-based greedy method.</a:t>
            </a:r>
          </a:p>
          <a:p>
            <a:pPr>
              <a:spcAft>
                <a:spcPts val="900"/>
              </a:spcAft>
              <a:defRPr sz="1500">
                <a:solidFill>
                  <a:srgbClr val="FFFFFF"/>
                </a:solidFill>
                <a:latin typeface="Aptos"/>
              </a:defRPr>
            </a:pPr>
            <a:r>
              <a:rPr dirty="0"/>
              <a:t>Complexity and constraints determine the right approach.</a:t>
            </a:r>
          </a:p>
        </p:txBody>
      </p:sp>
      <p:sp>
        <p:nvSpPr>
          <p:cNvPr id="5" name="Rounded Rectangle 4"/>
          <p:cNvSpPr/>
          <p:nvPr/>
        </p:nvSpPr>
        <p:spPr>
          <a:xfrm>
            <a:off x="6400800" y="640080"/>
            <a:ext cx="5074920" cy="3246120"/>
          </a:xfrm>
          <a:prstGeom prst="roundRect">
            <a:avLst/>
          </a:prstGeom>
          <a:solidFill>
            <a:srgbClr val="163452"/>
          </a:solidFill>
          <a:ln>
            <a:solidFill>
              <a:srgbClr val="2F50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720840" y="914400"/>
            <a:ext cx="4206240" cy="320040"/>
          </a:xfrm>
          <a:prstGeom prst="rect">
            <a:avLst/>
          </a:prstGeom>
          <a:noFill/>
        </p:spPr>
        <p:txBody>
          <a:bodyPr wrap="square" lIns="54864" tIns="54864" rIns="54864" bIns="54864" anchor="t">
            <a:spAutoFit/>
          </a:bodyPr>
          <a:lstStyle/>
          <a:p>
            <a:pPr algn="l">
              <a:spcAft>
                <a:spcPts val="500"/>
              </a:spcAft>
              <a:defRPr sz="1500" b="1" i="0">
                <a:solidFill>
                  <a:srgbClr val="00B1A9"/>
                </a:solidFill>
                <a:latin typeface="Aptos"/>
              </a:defRPr>
            </a:pPr>
            <a:r>
              <a:t>REFERENCES</a:t>
            </a:r>
          </a:p>
        </p:txBody>
      </p:sp>
      <p:sp>
        <p:nvSpPr>
          <p:cNvPr id="7" name="TextBox 6"/>
          <p:cNvSpPr txBox="1"/>
          <p:nvPr/>
        </p:nvSpPr>
        <p:spPr>
          <a:xfrm>
            <a:off x="6720840" y="1417320"/>
            <a:ext cx="4343400" cy="2103120"/>
          </a:xfrm>
          <a:prstGeom prst="rect">
            <a:avLst/>
          </a:prstGeom>
          <a:noFill/>
        </p:spPr>
        <p:txBody>
          <a:bodyPr wrap="square" lIns="54864" tIns="54864" rIns="54864" bIns="54864" anchor="t">
            <a:spAutoFit/>
          </a:bodyPr>
          <a:lstStyle/>
          <a:p>
            <a:pPr algn="l">
              <a:spcAft>
                <a:spcPts val="500"/>
              </a:spcAft>
              <a:defRPr sz="1200" b="0" i="0">
                <a:solidFill>
                  <a:srgbClr val="FFFFFF"/>
                </a:solidFill>
                <a:latin typeface="Aptos"/>
              </a:defRPr>
            </a:pPr>
            <a:r>
              <a:t>1. Cormen, Leiserson, Rivest &amp; Stein, Introduction to Algorithms (CLRS), MIT Press.</a:t>
            </a:r>
          </a:p>
          <a:p>
            <a:pPr algn="l">
              <a:spcAft>
                <a:spcPts val="500"/>
              </a:spcAft>
              <a:defRPr sz="1200" b="0" i="0">
                <a:solidFill>
                  <a:srgbClr val="FFFFFF"/>
                </a:solidFill>
                <a:latin typeface="Aptos"/>
              </a:defRPr>
            </a:pPr>
            <a:endParaRPr/>
          </a:p>
          <a:p>
            <a:pPr algn="l">
              <a:spcAft>
                <a:spcPts val="500"/>
              </a:spcAft>
              <a:defRPr sz="1200" b="0" i="0">
                <a:solidFill>
                  <a:srgbClr val="FFFFFF"/>
                </a:solidFill>
                <a:latin typeface="Aptos"/>
              </a:defRPr>
            </a:pPr>
            <a:r>
              <a:t>2. Kleinberg &amp; Tardos, Algorithm Design, Pearson.</a:t>
            </a:r>
          </a:p>
          <a:p>
            <a:pPr algn="l">
              <a:spcAft>
                <a:spcPts val="500"/>
              </a:spcAft>
              <a:defRPr sz="1200" b="0" i="0">
                <a:solidFill>
                  <a:srgbClr val="FFFFFF"/>
                </a:solidFill>
                <a:latin typeface="Aptos"/>
              </a:defRPr>
            </a:pPr>
            <a:endParaRPr/>
          </a:p>
          <a:p>
            <a:pPr algn="l">
              <a:spcAft>
                <a:spcPts val="500"/>
              </a:spcAft>
              <a:defRPr sz="1200" b="0" i="0">
                <a:solidFill>
                  <a:srgbClr val="FFFFFF"/>
                </a:solidFill>
                <a:latin typeface="Aptos"/>
              </a:defRPr>
            </a:pPr>
            <a:r>
              <a:t>3. MIT OpenCourseWare — algorithms and dynamic programming lecture materials.</a:t>
            </a:r>
          </a:p>
        </p:txBody>
      </p:sp>
      <p:sp>
        <p:nvSpPr>
          <p:cNvPr id="8" name="Rounded Rectangle 7"/>
          <p:cNvSpPr/>
          <p:nvPr/>
        </p:nvSpPr>
        <p:spPr>
          <a:xfrm>
            <a:off x="6355080" y="4023360"/>
            <a:ext cx="5074920" cy="1554480"/>
          </a:xfrm>
          <a:prstGeom prst="roundRect">
            <a:avLst/>
          </a:prstGeom>
          <a:solidFill>
            <a:srgbClr val="00B1A9"/>
          </a:solidFill>
          <a:ln>
            <a:solidFill>
              <a:srgbClr val="00B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6629400" y="4572000"/>
            <a:ext cx="4572000" cy="457200"/>
          </a:xfrm>
          <a:prstGeom prst="rect">
            <a:avLst/>
          </a:prstGeom>
          <a:noFill/>
        </p:spPr>
        <p:txBody>
          <a:bodyPr wrap="square" lIns="54864" tIns="54864" rIns="54864" bIns="54864" anchor="t">
            <a:spAutoFit/>
          </a:bodyPr>
          <a:lstStyle/>
          <a:p>
            <a:pPr algn="ctr">
              <a:spcAft>
                <a:spcPts val="500"/>
              </a:spcAft>
              <a:defRPr sz="2700" b="1" i="0">
                <a:solidFill>
                  <a:srgbClr val="0F2340"/>
                </a:solidFill>
                <a:latin typeface="Aptos"/>
              </a:defRPr>
            </a:pPr>
            <a:r>
              <a:rPr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2342</Words>
  <Application>Microsoft Office PowerPoint</Application>
  <PresentationFormat>Widescreen</PresentationFormat>
  <Paragraphs>317</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AEKANSH UPWANSHI</cp:lastModifiedBy>
  <cp:revision>2</cp:revision>
  <dcterms:created xsi:type="dcterms:W3CDTF">2013-01-27T09:14:16Z</dcterms:created>
  <dcterms:modified xsi:type="dcterms:W3CDTF">2026-10-17T09:01:27Z</dcterms:modified>
  <cp:category/>
</cp:coreProperties>
</file>