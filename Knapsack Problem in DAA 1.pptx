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Fira Code" panose="020B0809050000020004" pitchFamily="49" charset="0"/>
      <p:regular r:id="rId16"/>
    </p:embeddedFont>
    <p:embeddedFont>
      <p:font typeface="Inter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86" y="-26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F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3945135"/>
            <a:ext cx="10668000" cy="1057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394513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74639"/>
            <a:ext cx="166687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855589"/>
            <a:ext cx="4077890" cy="152400"/>
          </a:xfrm>
          <a:prstGeom prst="rect">
            <a:avLst/>
          </a:prstGeom>
          <a:noFill/>
        </p:spPr>
        <p:txBody>
          <a:bodyPr wrap="none" lIns="16668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DD4BF"/>
                </a:solidFill>
                <a:latin typeface="Inter"/>
              </a:rPr>
              <a:t>ENGINEERING ACADEMIC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122289"/>
            <a:ext cx="910113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Knapsack Problem in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64110"/>
            <a:ext cx="5179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D4BF"/>
                </a:solidFill>
                <a:latin typeface="Inter"/>
              </a:rPr>
              <a:t>Subject: Design and Analysis of Algorithms (DAA)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40410"/>
            <a:ext cx="383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Presented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459485"/>
            <a:ext cx="3162300" cy="727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4A3B8"/>
                </a:solidFill>
                <a:latin typeface="Inter"/>
              </a:rPr>
              <a:t>Student Name: </a:t>
            </a:r>
            <a:r>
              <a:rPr lang="en-US" sz="1125" b="0" i="0" u="none" dirty="0" err="1">
                <a:solidFill>
                  <a:srgbClr val="94A3B8"/>
                </a:solidFill>
                <a:latin typeface="Inter"/>
              </a:rPr>
              <a:t>Aekansh</a:t>
            </a:r>
            <a:r>
              <a:rPr lang="en-US"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US" sz="1125" b="0" i="0" u="none" dirty="0" err="1">
                <a:solidFill>
                  <a:srgbClr val="94A3B8"/>
                </a:solidFill>
                <a:latin typeface="Inter"/>
              </a:rPr>
              <a:t>Upwanshi</a:t>
            </a:r>
            <a:r>
              <a:rPr dirty="0"/>
              <a:t>
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US" sz="1125" b="0" i="0" u="none" dirty="0">
                <a:solidFill>
                  <a:srgbClr val="94A3B8"/>
                </a:solidFill>
                <a:latin typeface="Inter"/>
              </a:rPr>
              <a:t>PRN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Number: CS2026042</a:t>
            </a:r>
            <a:r>
              <a:rPr dirty="0"/>
              <a:t>
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Class / Semester: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B.Tech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CSE / </a:t>
            </a:r>
            <a:r>
              <a:rPr lang="en-US" sz="1125" b="0" i="0" u="none" dirty="0">
                <a:solidFill>
                  <a:srgbClr val="94A3B8"/>
                </a:solidFill>
                <a:latin typeface="Inter"/>
              </a:rPr>
              <a:t>3rd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0550" y="4240410"/>
            <a:ext cx="4107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Department &amp; College: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550" y="4459485"/>
            <a:ext cx="3381375" cy="45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4A3B8"/>
                </a:solidFill>
                <a:latin typeface="Inter"/>
              </a:rPr>
              <a:t>Department of Computer Science &amp; Engineering</a:t>
            </a:r>
            <a:r>
              <a:rPr dirty="0"/>
              <a:t>
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</a:t>
            </a:r>
            <a:r>
              <a:rPr lang="en-US" sz="1125" b="0" i="0" u="none">
                <a:solidFill>
                  <a:srgbClr val="94A3B8"/>
                </a:solidFill>
                <a:latin typeface="Inter"/>
              </a:rPr>
              <a:t>Symbiosis 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Institute 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of Engineering &amp;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8175" y="4240410"/>
            <a:ext cx="2012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Faculty Guide: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8175" y="4459485"/>
            <a:ext cx="17049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Dr. Robert Smith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Professor,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832645"/>
            <a:ext cx="3492549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9799" y="2832645"/>
            <a:ext cx="3492549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2849" y="2832645"/>
            <a:ext cx="3492549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089820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924" y="308982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74" y="3089820"/>
            <a:ext cx="1714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Introduction to the Knapsack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480345"/>
            <a:ext cx="39588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Combinatorial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775620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 classic optimization problem where a set of items, each with a specific weight and profit value, must be evaluated to find the most profitable combination.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924" y="3480345"/>
            <a:ext cx="39588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The Core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924" y="3775620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Maximize the total accumulated profit of items packed inside a storage container (knapsack) without exceeding its strict maximum weight capacity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0974" y="3480345"/>
            <a:ext cx="3921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Real-Life 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0974" y="3775620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 traveler packing a luggage bag with a 15 kg weight limit. Choosing high-value items like electronics and jewelry without overloading the bag.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53125" y="3008858"/>
            <a:ext cx="5572125" cy="1685925"/>
          </a:xfrm>
          <a:prstGeom prst="roundRect">
            <a:avLst>
              <a:gd name="adj" fmla="val 677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750" y="2361158"/>
            <a:ext cx="5000625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50" y="4142333"/>
            <a:ext cx="500062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MATHEMATICAL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Problem Statement &amp; 0/1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294608"/>
            <a:ext cx="5953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D4BF"/>
                </a:solidFill>
                <a:latin typeface="Inter"/>
              </a:rPr>
              <a:t>OPTIMIZATION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3551783"/>
            <a:ext cx="5953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Fira Code"/>
              </a:rPr>
              <a:t>Maximize: $\sum_{i=1}^{n} p_i \cdot x_i$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3923258"/>
            <a:ext cx="5953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D4BF"/>
                </a:solidFill>
                <a:latin typeface="Inter"/>
              </a:rPr>
              <a:t>SUBJECT TO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8875" y="4180433"/>
            <a:ext cx="5953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Fira Code"/>
              </a:rPr>
              <a:t>$\sum_{i=1}^{n} w_i \cdot x_i \le W$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2599283"/>
            <a:ext cx="59382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Given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894558"/>
            <a:ext cx="4619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n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items available: $1, 2, ..., n$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Weight array: $w_1, w_2, ..., w_n$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Profit array: $p_1, p_2, ..., p_n$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Knapsack capacity: $W$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4380458"/>
            <a:ext cx="59382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Decision Variable ($x_i$)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675733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$x_i \in \{0, 1\}$ where 1 means item is chosen completely, and 0 means item is excluded entirely.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50" y="3789908"/>
            <a:ext cx="1646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13384" y="3789908"/>
            <a:ext cx="39570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70426" y="3789908"/>
            <a:ext cx="27226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93088" y="3789908"/>
            <a:ext cx="2532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6750" y="4389983"/>
            <a:ext cx="1646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13384" y="4389983"/>
            <a:ext cx="39570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70426" y="4389983"/>
            <a:ext cx="27226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3088" y="4389983"/>
            <a:ext cx="2532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750" y="4990058"/>
            <a:ext cx="1646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13384" y="4990058"/>
            <a:ext cx="39570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70426" y="4990058"/>
            <a:ext cx="27226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93088" y="4990058"/>
            <a:ext cx="2532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66750" y="2794545"/>
          <a:ext cx="10858498" cy="2209800"/>
        </p:xfrm>
        <a:graphic>
          <a:graphicData uri="http://schemas.openxmlformats.org/drawingml/2006/table">
            <a:tbl>
              <a:tblPr/>
              <a:tblGrid>
                <a:gridCol w="164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7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Knapsack Variant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Selection Rule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Algorithmic Approach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Complexity / Solvability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0/1 Knapsack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Items are indivisible. Take whole item or leave it ($x_i \in \{0, 1\}$).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Dynamic Programming / Branch and Bound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NP-Hard (Pseudo-polynomial $O(nW)$)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Fractional Knapsack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Items can be broken down. Take fractions of items ($0 \le x_i \le 1$).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Greedy Algorithm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Efficient $O(n \log n)$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Unbounded Knapsack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Unlimited supply of each item available to choose from.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Dynamic Programming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Exponential without DP memoization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PROBLEM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Three Main Variants of Knapsack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769542"/>
            <a:ext cx="4370040" cy="2164556"/>
          </a:xfrm>
          <a:prstGeom prst="roundRect">
            <a:avLst>
              <a:gd name="adj" fmla="val 5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27290" y="2769542"/>
            <a:ext cx="6297959" cy="2164556"/>
          </a:xfrm>
          <a:prstGeom prst="roundRect">
            <a:avLst>
              <a:gd name="adj" fmla="val 528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55890" y="3562498"/>
            <a:ext cx="5840759" cy="11430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55890" y="3562498"/>
            <a:ext cx="38100" cy="1143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ALGORITHMIC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0/1 Knapsack via Dynamic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007667"/>
            <a:ext cx="51105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Core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302942"/>
            <a:ext cx="398904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Optimal Substructure: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Optimal solution contains optimal subsolutions.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Overlapping Subproblems: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Same subproblems solved repeatedly, solved efficiently using memoization/DP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5890" y="2998142"/>
            <a:ext cx="67361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D4BF"/>
                </a:solidFill>
                <a:latin typeface="Inter"/>
              </a:rPr>
              <a:t>Recurrence 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5890" y="3293417"/>
            <a:ext cx="6736109" cy="192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For item $i$ and capacity $w$: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4490" y="3752998"/>
            <a:ext cx="547880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37" b="0" i="0" u="none">
                <a:solidFill>
                  <a:srgbClr val="E2E8F0"/>
                </a:solidFill>
                <a:latin typeface="Fira Code"/>
              </a:rPr>
              <a:t>If weight[i] ≤ w:</a:t>
            </a:r>
            <a:r>
              <a:t>
</a:t>
            </a:r>
            <a:r>
              <a:rPr sz="937" b="0" i="0" u="none">
                <a:solidFill>
                  <a:srgbClr val="E2E8F0"/>
                </a:solidFill>
                <a:latin typeface="Fira Code"/>
              </a:rPr>
              <a:t>   DP[i][w] = max( DP[i-1][w], profit[i] + DP[i-1][w - weight[i]] )</a:t>
            </a:r>
            <a:r>
              <a:t>
</a:t>
            </a:r>
            <a:r>
              <a:rPr sz="937" b="0" i="0" u="none">
                <a:solidFill>
                  <a:srgbClr val="E2E8F0"/>
                </a:solidFill>
                <a:latin typeface="Fira Code"/>
              </a:rPr>
              <a:t> Otherwise:</a:t>
            </a:r>
            <a:r>
              <a:t>
</a:t>
            </a:r>
            <a:r>
              <a:rPr sz="937" b="0" i="0" u="none">
                <a:solidFill>
                  <a:srgbClr val="E2E8F0"/>
                </a:solidFill>
                <a:latin typeface="Fira Code"/>
              </a:rPr>
              <a:t>   DP[i][w] = DP[i-1][w]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38875" y="2594520"/>
            <a:ext cx="5286375" cy="251460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6750" y="3694658"/>
            <a:ext cx="1012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79674" y="3694658"/>
            <a:ext cx="2247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27127" y="3694658"/>
            <a:ext cx="20259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6750" y="4113758"/>
            <a:ext cx="1012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79674" y="4113758"/>
            <a:ext cx="2247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27127" y="4113758"/>
            <a:ext cx="20259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6750" y="4532858"/>
            <a:ext cx="1012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79674" y="4532858"/>
            <a:ext cx="2247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27127" y="4532858"/>
            <a:ext cx="20259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750" y="4951958"/>
            <a:ext cx="1012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79674" y="4951958"/>
            <a:ext cx="2247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27127" y="4951958"/>
            <a:ext cx="20259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851695"/>
            <a:ext cx="171450" cy="17145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66750" y="2880270"/>
          <a:ext cx="5286374" cy="2085975"/>
        </p:xfrm>
        <a:graphic>
          <a:graphicData uri="http://schemas.openxmlformats.org/drawingml/2006/table">
            <a:tbl>
              <a:tblPr/>
              <a:tblGrid>
                <a:gridCol w="1012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Item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Weight ($w_i$)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Profit ($p_i$)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NUMERICAL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Worked Example: 0/1 Knapsack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2594520"/>
            <a:ext cx="6607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Input Items ($W = 7$):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2832645"/>
            <a:ext cx="5715000" cy="20002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Optimal Solution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3127920"/>
            <a:ext cx="4905375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Selected Items: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Item A (Weight 2, Profit 20) &amp; Item C (Weight 4, Profit 40)</a:t>
            </a:r>
            <a:r>
              <a:t>
</a:t>
            </a:r>
            <a:r>
              <a:rPr sz="1125" b="1" i="0" u="none">
                <a:solidFill>
                  <a:srgbClr val="166534"/>
                </a:solidFill>
                <a:latin typeface="Inter"/>
              </a:rPr>
              <a:t>Total Weight: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$2 + 4 = 6 \le 7$</a:t>
            </a:r>
            <a:r>
              <a:t>
</a:t>
            </a:r>
            <a:r>
              <a:rPr sz="1125" b="1" i="0" u="none">
                <a:solidFill>
                  <a:srgbClr val="166534"/>
                </a:solidFill>
                <a:latin typeface="Inter"/>
              </a:rPr>
              <a:t>Maximum Profit: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$20 + 40 = \mathbf{60}$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530078"/>
            <a:ext cx="10858500" cy="2643485"/>
          </a:xfrm>
          <a:prstGeom prst="roundRect">
            <a:avLst>
              <a:gd name="adj" fmla="val 36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6750" y="2530078"/>
            <a:ext cx="38100" cy="264348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0/1 Knapsack Pseudocode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720578"/>
            <a:ext cx="10496550" cy="2262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2DD4BF"/>
                </a:solidFill>
                <a:latin typeface="Fira Code"/>
              </a:rPr>
              <a:t>function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knapsackDP(W, wt[], val[], n):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create 2D array DP[n + 1][W + 1]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</a:t>
            </a:r>
            <a:r>
              <a:rPr sz="1012" b="0" i="0" u="none">
                <a:solidFill>
                  <a:srgbClr val="2DD4BF"/>
                </a:solidFill>
                <a:latin typeface="Fira Code"/>
              </a:rPr>
              <a:t>for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i from 0 to n: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</a:t>
            </a:r>
            <a:r>
              <a:rPr sz="1012" b="0" i="0" u="none">
                <a:solidFill>
                  <a:srgbClr val="2DD4BF"/>
                </a:solidFill>
                <a:latin typeface="Fira Code"/>
              </a:rPr>
              <a:t>for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w from 0 to W: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  </a:t>
            </a:r>
            <a:r>
              <a:rPr sz="1012" b="0" i="0" u="none">
                <a:solidFill>
                  <a:srgbClr val="2DD4BF"/>
                </a:solidFill>
                <a:latin typeface="Fira Code"/>
              </a:rPr>
              <a:t>if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i == 0 or w == 0: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    DP[i][w] = 0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  </a:t>
            </a:r>
            <a:r>
              <a:rPr sz="1012" b="0" i="0" u="none">
                <a:solidFill>
                  <a:srgbClr val="2DD4BF"/>
                </a:solidFill>
                <a:latin typeface="Fira Code"/>
              </a:rPr>
              <a:t>else if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wt[i-1] ≤ w: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    DP[i][w] = max(val[i-1] + DP[i-1][w - wt[i-1]], DP[i-1][w])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  </a:t>
            </a:r>
            <a:r>
              <a:rPr sz="1012" b="0" i="0" u="none">
                <a:solidFill>
                  <a:srgbClr val="2DD4BF"/>
                </a:solidFill>
                <a:latin typeface="Fira Code"/>
              </a:rPr>
              <a:t>else: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      DP[i][w] = DP[i-1][w]</a:t>
            </a:r>
            <a:r>
              <a:t>
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  </a:t>
            </a:r>
            <a:r>
              <a:rPr sz="1012" b="0" i="0" u="none">
                <a:solidFill>
                  <a:srgbClr val="2DD4BF"/>
                </a:solidFill>
                <a:latin typeface="Fira Code"/>
              </a:rPr>
              <a:t>return</a:t>
            </a:r>
            <a:r>
              <a:rPr sz="1012" b="0" i="0" u="none">
                <a:solidFill>
                  <a:srgbClr val="E2E8F0"/>
                </a:solidFill>
                <a:latin typeface="Fira Code"/>
              </a:rPr>
              <a:t> DP[n][W]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930276"/>
            <a:ext cx="3492549" cy="1843087"/>
          </a:xfrm>
          <a:prstGeom prst="roundRect">
            <a:avLst>
              <a:gd name="adj" fmla="val 62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9799" y="2930276"/>
            <a:ext cx="3492549" cy="1843087"/>
          </a:xfrm>
          <a:prstGeom prst="roundRect">
            <a:avLst>
              <a:gd name="adj" fmla="val 62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2849" y="2930276"/>
            <a:ext cx="3492549" cy="1843087"/>
          </a:xfrm>
          <a:prstGeom prst="roundRect">
            <a:avLst>
              <a:gd name="adj" fmla="val 620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GREEDY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Fractional Knapsack via Greedy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168401"/>
            <a:ext cx="39588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Greedy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63676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Unlike 0/1 knapsack, fractional knapsack allows taking fractions of items. The greedy approach always yields the globally optimal 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924" y="3168401"/>
            <a:ext cx="39588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Step-by-Step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924" y="3463676"/>
            <a:ext cx="311154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1. Calculate profit-to-weight ratio ($p_i / w_i$) for each item.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2. Sort items in descending order of ratio.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3. Pick items sequentially. If capacity runs out, take a fraction.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0974" y="3168401"/>
            <a:ext cx="3921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Why Greedy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0974" y="3463676"/>
            <a:ext cx="31115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6534"/>
                </a:solidFill>
                <a:latin typeface="Inter"/>
              </a:rPr>
              <a:t>Because items are infinitely divisible, maximizing value-per-unit-weight guarantees the highest possible total profit.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19441" y="2942480"/>
            <a:ext cx="4805808" cy="1818828"/>
          </a:xfrm>
          <a:prstGeom prst="roundRect">
            <a:avLst>
              <a:gd name="adj" fmla="val 62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6750" y="3852118"/>
            <a:ext cx="1051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18220" y="3852118"/>
            <a:ext cx="1347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65412" y="3852118"/>
            <a:ext cx="11828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48298" y="3852118"/>
            <a:ext cx="2185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6750" y="4271218"/>
            <a:ext cx="1051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18220" y="4271218"/>
            <a:ext cx="1347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65412" y="4271218"/>
            <a:ext cx="11828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48298" y="4271218"/>
            <a:ext cx="2185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750" y="4690318"/>
            <a:ext cx="1051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18220" y="4690318"/>
            <a:ext cx="1347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5412" y="4690318"/>
            <a:ext cx="11828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48298" y="4690318"/>
            <a:ext cx="2185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66750" y="3037730"/>
          <a:ext cx="5766939" cy="1666875"/>
        </p:xfrm>
        <a:graphic>
          <a:graphicData uri="http://schemas.openxmlformats.org/drawingml/2006/table">
            <a:tbl>
              <a:tblPr/>
              <a:tblGrid>
                <a:gridCol w="1051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Item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Weight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Profit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Ratio ($p/w$)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6.0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(Rank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5.0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(Rank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72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4.0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(Rank 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GREEDY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Fractional Knapsack Numerical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41" y="3171080"/>
            <a:ext cx="524395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D4BF"/>
                </a:solidFill>
                <a:latin typeface="Inter"/>
              </a:rPr>
              <a:t>Capacity $W = 50$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3466355"/>
            <a:ext cx="4443858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• Take Item A: wt=10, profit=60 (Rem cap = 40)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• Take Item B: wt=20, profit=100 (Rem cap = 20)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• Take 2/3 of Item C: wt=20, profit = 80 (Rem cap = 0)</a:t>
            </a:r>
            <a:r>
              <a:t>
</a:t>
            </a:r>
            <a:r>
              <a:rPr sz="1050" b="1" i="0" u="none">
                <a:solidFill>
                  <a:srgbClr val="FFFFFF"/>
                </a:solidFill>
                <a:latin typeface="Inter"/>
              </a:rPr>
              <a:t>Maximum Total Profit = $60 + 100 + 80 = \mathbf{240}$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50" y="3861345"/>
            <a:ext cx="2847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14278" y="3861345"/>
            <a:ext cx="1627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41416" y="3861345"/>
            <a:ext cx="17210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62464" y="3861345"/>
            <a:ext cx="4662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6750" y="4318545"/>
            <a:ext cx="2847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14278" y="4318545"/>
            <a:ext cx="1627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41416" y="4318545"/>
            <a:ext cx="17210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62464" y="4318545"/>
            <a:ext cx="4662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750" y="4775745"/>
            <a:ext cx="2847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14278" y="4775745"/>
            <a:ext cx="1627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41416" y="4775745"/>
            <a:ext cx="17210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62464" y="4775745"/>
            <a:ext cx="4662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66678" y="3532733"/>
            <a:ext cx="69532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93816" y="3532733"/>
            <a:ext cx="69532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66678" y="3989933"/>
            <a:ext cx="69532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93816" y="3989933"/>
            <a:ext cx="63817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66678" y="4447133"/>
            <a:ext cx="933450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93816" y="4447133"/>
            <a:ext cx="1143000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6750" y="3008858"/>
          <a:ext cx="10858498" cy="1781175"/>
        </p:xfrm>
        <a:graphic>
          <a:graphicData uri="http://schemas.openxmlformats.org/drawingml/2006/table">
            <a:tbl>
              <a:tblPr/>
              <a:tblGrid>
                <a:gridCol w="284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2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29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Algorithm Approach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Time 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Space 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Notes &amp; Remarks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29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0/1 Knapsack (Standard DP)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Pseudo-polynomial time; depends on capacity $W$.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29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0/1 Knapsack (Space Optimized)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Uses 1D array by traversing capacity backwards.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29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Fractional Knapsack (Greedy)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Dominated by initial sorting step of profit-to-weight ratios.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COMPLEXITY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Complexity Comparison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1928" y="3570833"/>
            <a:ext cx="600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$O(nW)$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9066" y="3570833"/>
            <a:ext cx="600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$O(nW)$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1928" y="4028033"/>
            <a:ext cx="600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$O(nW)$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9066" y="4028033"/>
            <a:ext cx="542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$O(W)$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1928" y="4485233"/>
            <a:ext cx="838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$O(n \log n)$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9066" y="4485233"/>
            <a:ext cx="1047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$O(1)$ or $O(n)$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3144589"/>
            <a:ext cx="5334000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3144589"/>
            <a:ext cx="5334000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COMPARATIVE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Dynamic Programming vs. Greedy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382714"/>
            <a:ext cx="63757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Dynamic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677989"/>
            <a:ext cx="4953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Basis: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Exhaustive search with memoization of subproblems.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Optimality: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Always guarantees optimal solution for 0/1.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Suitability: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Discrete / 0-1 Knapsack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375" y="3382714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Greedy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375" y="3677989"/>
            <a:ext cx="4953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Basis: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Local optimal choice at each step.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Optimality: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Optimal for Fractional; suboptimal for 0/1.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Suitability: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Divisible / Fractional Knapsack problems.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3089820"/>
            <a:ext cx="3492549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9799" y="3089820"/>
            <a:ext cx="3492549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2849" y="3089820"/>
            <a:ext cx="3492549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346995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924" y="334699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74" y="334699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REAL-WORLD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Practical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651795"/>
            <a:ext cx="39588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Cargo 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947070"/>
            <a:ext cx="3111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Loading container ships or aircraft with maximum profit weight limits.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924" y="3651795"/>
            <a:ext cx="39588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Budget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924" y="3947070"/>
            <a:ext cx="3111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Selecting projects with highest ROI under fixed capital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0974" y="3651795"/>
            <a:ext cx="3921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Resource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0974" y="3947070"/>
            <a:ext cx="3111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CPU memory and bandwidth allocation in distributed computing.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3144589"/>
            <a:ext cx="5334000" cy="1414462"/>
          </a:xfrm>
          <a:prstGeom prst="roundRect">
            <a:avLst>
              <a:gd name="adj" fmla="val 808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3144589"/>
            <a:ext cx="5334000" cy="1414462"/>
          </a:xfrm>
          <a:prstGeom prst="roundRect">
            <a:avLst>
              <a:gd name="adj" fmla="val 808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401764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401764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476250"/>
            <a:ext cx="11525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Inter"/>
              </a:rPr>
              <a:t>CRITICAL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704850"/>
            <a:ext cx="1152525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Inter"/>
              </a:rPr>
              <a:t>Advantages &amp;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382714"/>
            <a:ext cx="6375796" cy="20002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677989"/>
            <a:ext cx="4953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6534"/>
                </a:solidFill>
                <a:latin typeface="Inter"/>
              </a:rPr>
              <a:t>• Maximizes resource efficiency.</a:t>
            </a:r>
            <a:r>
              <a:t>
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• DP guarantees exact optimal 0/1 solution.</a:t>
            </a:r>
            <a:r>
              <a:t>
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• Greedy approach solves fractional instances rapidly.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3382714"/>
            <a:ext cx="5762625" cy="20002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Inter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677989"/>
            <a:ext cx="4953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91B1B"/>
                </a:solidFill>
                <a:latin typeface="Inter"/>
              </a:rPr>
              <a:t>• Standard DP requires large memory $O(nW)$.</a:t>
            </a:r>
            <a:r>
              <a:t>
</a:t>
            </a:r>
            <a:r>
              <a:rPr sz="1125" b="0" i="0" u="none">
                <a:solidFill>
                  <a:srgbClr val="991B1B"/>
                </a:solidFill>
                <a:latin typeface="Inter"/>
              </a:rPr>
              <a:t> • Time complexity explodes if capacity $W$ is very large.</a:t>
            </a:r>
            <a:r>
              <a:t>
</a:t>
            </a:r>
            <a:r>
              <a:rPr sz="1125" b="0" i="0" u="none">
                <a:solidFill>
                  <a:srgbClr val="991B1B"/>
                </a:solidFill>
                <a:latin typeface="Inter"/>
              </a:rPr>
              <a:t> • Greedy strategy fails on discrete 0/1 problems.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6922" y="2377380"/>
            <a:ext cx="5238154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Inter"/>
              </a:rPr>
              <a:t>Conclusion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918370"/>
            <a:ext cx="952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The Knapsack problem is fundamental in algorithm design, bridging greedy heuristics and dynamic programming.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Reference: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Introduction to Algorithms by Cormen, Leiserson, Rivest, and Stein (CLRS).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7022" y="3585120"/>
            <a:ext cx="3637954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2DD4BF"/>
                </a:solidFill>
                <a:latin typeface="Inter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92328" y="4280445"/>
            <a:ext cx="1607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Inter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1320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Calibri</vt:lpstr>
      <vt:lpstr>Fira 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AEKANSH UPWANSHI</cp:lastModifiedBy>
  <cp:revision>2</cp:revision>
  <dcterms:created xsi:type="dcterms:W3CDTF">2013-01-27T09:14:16Z</dcterms:created>
  <dcterms:modified xsi:type="dcterms:W3CDTF">2026-10-14T09:24:00Z</dcterms:modified>
  <cp:category/>
</cp:coreProperties>
</file>